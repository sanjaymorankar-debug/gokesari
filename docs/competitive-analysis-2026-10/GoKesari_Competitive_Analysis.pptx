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1be6904-2657-85c9-1bb3-9abd7bf02253}">
          <p14:sldIdLst>
            <p14:sldId id="256"/>
            <p14:sldId id="257"/>
          </p14:sldIdLst>
        </p14:section>
        <p14:section name="Market" id="{a344b492-cf85-a3f1-96db-3e73073e227c}">
          <p14:sldIdLst>
            <p14:sldId id="258"/>
          </p14:sldIdLst>
        </p14:section>
        <p14:section name="Comparison" id="{a8d437cb-270e-d5c4-16ff-422f2920e966}">
          <p14:sldIdLst>
            <p14:sldId id="259"/>
            <p14:sldId id="260"/>
            <p14:sldId id="261"/>
          </p14:sldIdLst>
        </p14:section>
        <p14:section name="Ratings" id="{93ff0625-d2b2-2faa-2755-298e7e3ba9a9}">
          <p14:sldIdLst>
            <p14:sldId id="262"/>
            <p14:sldId id="263"/>
          </p14:sldIdLst>
        </p14:section>
        <p14:section name="GoKesari advantage" id="{265cf25c-d5e9-a0fb-5833-b0473cf9d7c3}">
          <p14:sldIdLst>
            <p14:sldId id="264"/>
            <p14:sldId id="265"/>
            <p14:sldId id="266"/>
            <p14:sldId id="267"/>
          </p14:sldIdLst>
        </p14:section>
        <p14:section name="Competitors" id="{ef5f2a9b-e806-f4bd-5186-a965e38be58a}">
          <p14:sldIdLst>
            <p14:sldId id="268"/>
            <p14:sldId id="269"/>
          </p14:sldIdLst>
        </p14:section>
        <p14:section name="Way forward" id="{ca768c49-99d5-024e-0673-04a23782f540}">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Proposition /10</c:v>
                </c:pt>
              </c:strCache>
            </c:strRef>
          </c:tx>
          <c:spPr>
            <a:solidFill>
              <a:srgbClr val="D9640F"/>
            </a:solidFill>
            <a:effectLst/>
          </c:spPr>
          <c:invertIfNegative val="0"/>
          <c:dLbls>
            <c:numFmt formatCode="0.0" sourceLinked="0"/>
            <c:txPr>
              <a:bodyPr/>
              <a:lstStyle/>
              <a:p>
                <a:pPr>
                  <a:defRPr b="0" i="0" strike="noStrike" sz="1000" u="none">
                    <a:solidFill>
                      <a:srgbClr val="1E1A17"/>
                    </a:solidFill>
                    <a:latin typeface="+mn-lt"/>
                  </a:defRPr>
                </a:pPr>
              </a:p>
            </c:txPr>
            <c:showLegendKey val="0"/>
            <c:showVal val="1"/>
            <c:showCatName val="0"/>
            <c:showSerName val="0"/>
            <c:showPercent val="0"/>
            <c:showBubbleSize val="0"/>
            <c:showLeaderLines val="0"/>
          </c:dLbls>
          <c:cat>
            <c:multiLvlStrRef>
              <c:f>Sheet1!$A$2:$A$12</c:f>
              <c:multiLvlStrCache>
                <c:ptCount val="11"/>
                <c:lvl>
                  <c:pt idx="0">
                    <c:v>Zepto</c:v>
                  </c:pt>
                  <c:pt idx="1">
                    <c:v>Blinkit</c:v>
                  </c:pt>
                  <c:pt idx="2">
                    <c:v>Instamart</c:v>
                  </c:pt>
                  <c:pt idx="3">
                    <c:v>FK Minutes</c:v>
                  </c:pt>
                  <c:pt idx="4">
                    <c:v>Meesho</c:v>
                  </c:pt>
                  <c:pt idx="5">
                    <c:v>Flipkart</c:v>
                  </c:pt>
                  <c:pt idx="6">
                    <c:v>JioMart</c:v>
                  </c:pt>
                  <c:pt idx="7">
                    <c:v>Country Delight</c:v>
                  </c:pt>
                  <c:pt idx="8">
                    <c:v>BigBasket</c:v>
                  </c:pt>
                  <c:pt idx="9">
                    <c:v>Amazon</c:v>
                  </c:pt>
                  <c:pt idx="10">
                    <c:v>GoKesari</c:v>
                  </c:pt>
                </c:lvl>
              </c:multiLvlStrCache>
            </c:multiLvlStrRef>
          </c:cat>
          <c:val>
            <c:numRef>
              <c:f>Sheet1!$B$2:$B$12</c:f>
              <c:numCache>
                <c:formatCode>General</c:formatCode>
                <c:ptCount val="11"/>
                <c:pt idx="0">
                  <c:v>3.8</c:v>
                </c:pt>
                <c:pt idx="1">
                  <c:v>3.9</c:v>
                </c:pt>
                <c:pt idx="2">
                  <c:v>4.3</c:v>
                </c:pt>
                <c:pt idx="3">
                  <c:v>4.6</c:v>
                </c:pt>
                <c:pt idx="4">
                  <c:v>5.2</c:v>
                </c:pt>
                <c:pt idx="5">
                  <c:v>5.5</c:v>
                </c:pt>
                <c:pt idx="6">
                  <c:v>5.7</c:v>
                </c:pt>
                <c:pt idx="7">
                  <c:v>5.7</c:v>
                </c:pt>
                <c:pt idx="8">
                  <c:v>6.2</c:v>
                </c:pt>
                <c:pt idx="9">
                  <c:v>6.5</c:v>
                </c:pt>
                <c:pt idx="10">
                  <c:v>8.2</c:v>
                </c:pt>
              </c:numCache>
            </c:numRef>
          </c:val>
        </c:ser>
        <c:ser>
          <c:idx val="1"/>
          <c:order val="1"/>
          <c:tx>
            <c:strRef>
              <c:f>Sheet1!$C$1</c:f>
              <c:strCache>
                <c:ptCount val="1"/>
                <c:pt idx="0">
                  <c:v>Market strength /10</c:v>
                </c:pt>
              </c:strCache>
            </c:strRef>
          </c:tx>
          <c:spPr>
            <a:solidFill>
              <a:srgbClr val="C9CDD3"/>
            </a:solidFill>
            <a:effectLst/>
          </c:spPr>
          <c:invertIfNegative val="0"/>
          <c:dLbls>
            <c:numFmt formatCode="0.0" sourceLinked="0"/>
            <c:txPr>
              <a:bodyPr/>
              <a:lstStyle/>
              <a:p>
                <a:pPr>
                  <a:defRPr b="0" i="0" strike="noStrike" sz="1000" u="none">
                    <a:solidFill>
                      <a:srgbClr val="1E1A17"/>
                    </a:solidFill>
                    <a:latin typeface="+mn-lt"/>
                  </a:defRPr>
                </a:pPr>
              </a:p>
            </c:txPr>
            <c:showLegendKey val="0"/>
            <c:showVal val="1"/>
            <c:showCatName val="0"/>
            <c:showSerName val="0"/>
            <c:showPercent val="0"/>
            <c:showBubbleSize val="0"/>
            <c:showLeaderLines val="0"/>
          </c:dLbls>
          <c:cat>
            <c:multiLvlStrRef>
              <c:f>Sheet1!$A$2:$A$12</c:f>
              <c:multiLvlStrCache>
                <c:ptCount val="11"/>
                <c:lvl>
                  <c:pt idx="0">
                    <c:v>Zepto</c:v>
                  </c:pt>
                  <c:pt idx="1">
                    <c:v>Blinkit</c:v>
                  </c:pt>
                  <c:pt idx="2">
                    <c:v>Instamart</c:v>
                  </c:pt>
                  <c:pt idx="3">
                    <c:v>FK Minutes</c:v>
                  </c:pt>
                  <c:pt idx="4">
                    <c:v>Meesho</c:v>
                  </c:pt>
                  <c:pt idx="5">
                    <c:v>Flipkart</c:v>
                  </c:pt>
                  <c:pt idx="6">
                    <c:v>JioMart</c:v>
                  </c:pt>
                  <c:pt idx="7">
                    <c:v>Country Delight</c:v>
                  </c:pt>
                  <c:pt idx="8">
                    <c:v>BigBasket</c:v>
                  </c:pt>
                  <c:pt idx="9">
                    <c:v>Amazon</c:v>
                  </c:pt>
                  <c:pt idx="10">
                    <c:v>GoKesari</c:v>
                  </c:pt>
                </c:lvl>
              </c:multiLvlStrCache>
            </c:multiLvlStrRef>
          </c:cat>
          <c:val>
            <c:numRef>
              <c:f>Sheet1!$C$2:$C$12</c:f>
              <c:numCache>
                <c:formatCode>General</c:formatCode>
                <c:ptCount val="11"/>
                <c:pt idx="0">
                  <c:v>8.8</c:v>
                </c:pt>
                <c:pt idx="1">
                  <c:v>9.6</c:v>
                </c:pt>
                <c:pt idx="2">
                  <c:v>8.8</c:v>
                </c:pt>
                <c:pt idx="3">
                  <c:v>8.8</c:v>
                </c:pt>
                <c:pt idx="4">
                  <c:v>6.4</c:v>
                </c:pt>
                <c:pt idx="5">
                  <c:v>8.4</c:v>
                </c:pt>
                <c:pt idx="6">
                  <c:v>6.8</c:v>
                </c:pt>
                <c:pt idx="7">
                  <c:v>6</c:v>
                </c:pt>
                <c:pt idx="8">
                  <c:v>7.2</c:v>
                </c:pt>
                <c:pt idx="9">
                  <c:v>9.2</c:v>
                </c:pt>
                <c:pt idx="10">
                  <c:v>2.8</c:v>
                </c:pt>
              </c:numCache>
            </c:numRef>
          </c:val>
        </c:ser>
        <c:dLbls>
          <c:numFmt formatCode="0.0" sourceLinked="0"/>
          <c:txPr>
            <a:bodyPr/>
            <a:lstStyle/>
            <a:p>
              <a:pPr>
                <a:defRPr b="0" i="0" strike="noStrike" sz="1000" u="none">
                  <a:solidFill>
                    <a:srgbClr val="1E1A1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E1A17"/>
                </a:solidFill>
                <a:latin typeface="+mn-lt"/>
              </a:defRPr>
            </a:pPr>
            <a:endParaRPr lang="en-US"/>
          </a:p>
        </c:txPr>
        <c:crossAx val="2094734552"/>
        <c:crosses val="autoZero"/>
        <c:auto val="1"/>
        <c:lblAlgn val="ctr"/>
        <c:noMultiLvlLbl val="1"/>
      </c:catAx>
      <c:valAx>
        <c:axId val="2094734552"/>
        <c:scaling>
          <c:orientation val="minMax"/>
          <c:max val="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E1A17"/>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Competitive analysis of GoKesari.com against Amazon, Flipkart, Flipkart Minutes, Meesho, BigBasket, Blinkit, Zepto, Swiggy Instamart, JioMart and Country Delight. Competitor data from public sources as of 16 Oct 2026; GoKesari features from its codebase.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messages: the market is big and speed-led; the local-shop plus daily-subscription space is open; GoKesari's product is strongest on proposition; but it must win a niche first because it trails on speed, scale and brand.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Google–Redseer 2026 (quick commerce), Bain How India Shops Online 2026 (e-retail), IMARC 2026 (dairy), Business Standard May 2026 (dark stores).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figures are the latest public numbers found; periods differ by company (marked). App ratings are approximate, from third-party aggregators; live store pages were not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GoKesari column reflects features built in its codebase (Oct 2026). Some are switched on in the test site and await production rollout (price comparison, coupons, referrals). GoKesari does not offer 10-minute delivery; it delivers from nearby shops by slot.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 = the platform sells its own or partner inventory from dark stores, so there are no independent sellers. 'Ref. fee' = category-based referral fee. Meesho charges 0% commission. GoKesari charges 1% commission, plus ₹5/km when a GoKesari rider delivers.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Analyst scorecard, 1–5 per criterion, converted to /10. Proposition = subscription flexibility 20%, fee transparency 20%, local-shop &amp; seller value 20%, trust signals 15%, assortment 15%, loyalty 10%. Market strength = speed 40%, scale 40%, brand &amp; ratings 20%. Overall = 60% proposition + 40% market strength.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Scores are analyst judgements from the feature research; app-store ratings and scale figures inform the market-strength scores. Change the weights in the Excel workbook to test sensitivity.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 are built in the GoKesari codebase. Several are behind business rules that are on in the test site (test.gokesari.com) and need switching on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Country Delight and BigBasket's BB Daily are the only competitors with per-day editable milk subscriptions. Both sell their own stock, so the customer cannot choose a local dairy. Country Delight complaint themes (Trustpilot, consumercomplaints.in): membership fees, quality and fat content, refunds.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Commission default is 1% (Admin → Finance). Delivery charge to the shop's wallet is ₹5/km only when a GoKesari rider delivers; pickup and the shop's own staff carry no delivery charge. Kirana-closure figure is an allegation by the distributors' federation AICPDF (Feb 2025), not a verified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GoKesari controls listed are technical implementations from COMPLIANCE.md in its repository; that document itself says legal review is still required. Grievance officer details and legal entity data are placeholders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Strengths from the research. These are the bars GoKesari is measured against; speed and scale are where the big players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Readiness items come from GoKesari's own COMPLIANCE.md and feature docs: legal entity, CIN, GSTIN and grievance officer are placeholders; many new features are off by default in production; live Cashfree keys must be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Positioning: 'Your neighbourhood's trusted shops, delivered. No hidden fees.' Compete on choice, trust and subscriptions, not on 10-minute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Competitor data gathered on 16 Oct 2026 from public sources. Figures marked approximate could not be confirmed against a primary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886200"/>
            <a:ext cx="10698480" cy="914400"/>
          </a:xfrm>
          <a:prstGeom prst="rect">
            <a:avLst/>
          </a:prstGeom>
          <a:noFill/>
          <a:ln/>
        </p:spPr>
        <p:txBody>
          <a:bodyPr wrap="square" rtlCol="0"/>
          <a:lstStyle>
            <a:lvl1pPr indent="0" marL="0">
              <a:buNone/>
              <a:defRPr lang="en-US" sz="2000" dirty="0">
                <a:solidFill>
                  <a:schemeClr val="accent3"/>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200" b="1" dirty="0">
                <a:solidFill>
                  <a:schemeClr val="tx2"/>
                </a:solidFill>
                <a:latin typeface="Cambria" pitchFamily="34" charset="0"/>
                <a:ea typeface="Cambria" pitchFamily="34" charset="-122"/>
                <a:cs typeface="Cambria" pitchFamily="34" charset="-120"/>
              </a:defRPr>
            </a:lvl1pPr>
          </a:lstStyle>
          <a:p>
            <a:pPr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GoKesari competitive analysis · October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73736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How GoKesari.com stacks up against India's top 10 e-commerce &amp; quick-commerce players</a:t>
            </a:r>
            <a:endParaRPr lang="en-US" sz="4400" dirty="0"/>
          </a:p>
        </p:txBody>
      </p:sp>
      <p:sp>
        <p:nvSpPr>
          <p:cNvPr id="3" name="Text 0"/>
          <p:cNvSpPr/>
          <p:nvPr>
            <p:ph idx="101" type="body" hasCustomPrompt="1"/>
          </p:nvPr>
        </p:nvSpPr>
        <p:spPr>
          <a:xfrm>
            <a:off x="731520" y="3886200"/>
            <a:ext cx="10698480" cy="914400"/>
          </a:xfrm>
          <a:prstGeom prst="rect">
            <a:avLst/>
          </a:prstGeom>
          <a:noFill/>
          <a:ln/>
        </p:spPr>
        <p:txBody>
          <a:bodyPr wrap="square" lIns="0" tIns="0" rIns="0" bIns="0" rtlCol="0" anchor="t"/>
          <a:lstStyle/>
          <a:p>
            <a:pPr indent="0" marL="0">
              <a:buNone/>
            </a:pPr>
            <a:r>
              <a:rPr lang="en-US" sz="2000" dirty="0">
                <a:solidFill>
                  <a:schemeClr val="accent3"/>
                </a:solidFill>
              </a:rPr>
              <a:t>Feature comparison, ratings, competitor strengths and where GoKesari wins · October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Executive summary</a:t>
            </a:r>
            <a:endParaRPr lang="en-US" sz="3200" dirty="0"/>
          </a:p>
        </p:txBody>
      </p:sp>
      <p:sp>
        <p:nvSpPr>
          <p:cNvPr id="4" name="Shape 1"/>
          <p:cNvSpPr/>
          <p:nvPr/>
        </p:nvSpPr>
        <p:spPr>
          <a:xfrm>
            <a:off x="548640" y="1325880"/>
            <a:ext cx="2606040" cy="3749040"/>
          </a:xfrm>
          <a:prstGeom prst="roundRect">
            <a:avLst>
              <a:gd name="adj" fmla="val 2807"/>
            </a:avLst>
          </a:prstGeom>
          <a:solidFill>
            <a:schemeClr val="bg2"/>
          </a:solidFill>
          <a:ln/>
        </p:spPr>
      </p:sp>
      <p:sp>
        <p:nvSpPr>
          <p:cNvPr id="5" name="Shape 2"/>
          <p:cNvSpPr/>
          <p:nvPr/>
        </p:nvSpPr>
        <p:spPr>
          <a:xfrm>
            <a:off x="822960" y="1645920"/>
            <a:ext cx="685800" cy="68580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987552" y="1810512"/>
            <a:ext cx="356616" cy="356616"/>
          </a:xfrm>
          <a:prstGeom prst="rect">
            <a:avLst/>
          </a:prstGeom>
        </p:spPr>
      </p:pic>
      <p:sp>
        <p:nvSpPr>
          <p:cNvPr id="7" name="Text 3"/>
          <p:cNvSpPr txBox="1"/>
          <p:nvPr/>
        </p:nvSpPr>
        <p:spPr>
          <a:xfrm>
            <a:off x="822960" y="2514600"/>
            <a:ext cx="2057400" cy="91440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A big market, built on speed</a:t>
            </a:r>
            <a:endParaRPr lang="en-US" sz="1800" dirty="0"/>
          </a:p>
        </p:txBody>
      </p:sp>
      <p:sp>
        <p:nvSpPr>
          <p:cNvPr id="8" name="Text 4"/>
          <p:cNvSpPr txBox="1"/>
          <p:nvPr/>
        </p:nvSpPr>
        <p:spPr>
          <a:xfrm>
            <a:off x="822960" y="3429000"/>
            <a:ext cx="2057400" cy="1554480"/>
          </a:xfrm>
          <a:prstGeom prst="rect">
            <a:avLst/>
          </a:prstGeom>
          <a:noFill/>
          <a:ln/>
        </p:spPr>
        <p:txBody>
          <a:bodyPr wrap="square" lIns="0" tIns="0" rIns="0" bIns="0" rtlCol="0" anchor="t"/>
          <a:lstStyle/>
          <a:p>
            <a:pPr indent="0" marL="0">
              <a:buNone/>
            </a:pPr>
            <a:r>
              <a:rPr lang="en-US" sz="1400" dirty="0">
                <a:solidFill>
                  <a:schemeClr val="tx1"/>
                </a:solidFill>
              </a:rPr>
              <a:t>Quick commerce is ~US$13bn (FY26) and heading to ~US$90bn by FY31. The big three run 5,000+ dark stores.</a:t>
            </a:r>
            <a:endParaRPr lang="en-US" sz="1400" dirty="0"/>
          </a:p>
        </p:txBody>
      </p:sp>
      <p:sp>
        <p:nvSpPr>
          <p:cNvPr id="9" name="Shape 5"/>
          <p:cNvSpPr/>
          <p:nvPr/>
        </p:nvSpPr>
        <p:spPr>
          <a:xfrm>
            <a:off x="3367735" y="1325880"/>
            <a:ext cx="2606040" cy="3749040"/>
          </a:xfrm>
          <a:prstGeom prst="roundRect">
            <a:avLst>
              <a:gd name="adj" fmla="val 2807"/>
            </a:avLst>
          </a:prstGeom>
          <a:solidFill>
            <a:schemeClr val="bg2"/>
          </a:solidFill>
          <a:ln/>
        </p:spPr>
      </p:sp>
      <p:sp>
        <p:nvSpPr>
          <p:cNvPr id="10" name="Shape 6"/>
          <p:cNvSpPr/>
          <p:nvPr/>
        </p:nvSpPr>
        <p:spPr>
          <a:xfrm>
            <a:off x="3642055" y="1645920"/>
            <a:ext cx="685800" cy="68580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3806647" y="1810512"/>
            <a:ext cx="356616" cy="356616"/>
          </a:xfrm>
          <a:prstGeom prst="rect">
            <a:avLst/>
          </a:prstGeom>
        </p:spPr>
      </p:pic>
      <p:sp>
        <p:nvSpPr>
          <p:cNvPr id="12" name="Text 7"/>
          <p:cNvSpPr txBox="1"/>
          <p:nvPr/>
        </p:nvSpPr>
        <p:spPr>
          <a:xfrm>
            <a:off x="3642055" y="2514600"/>
            <a:ext cx="2057400" cy="91440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Local shops + daily subscriptions are unserved</a:t>
            </a:r>
            <a:endParaRPr lang="en-US" sz="1800" dirty="0"/>
          </a:p>
        </p:txBody>
      </p:sp>
      <p:sp>
        <p:nvSpPr>
          <p:cNvPr id="13" name="Text 8"/>
          <p:cNvSpPr txBox="1"/>
          <p:nvPr/>
        </p:nvSpPr>
        <p:spPr>
          <a:xfrm>
            <a:off x="3642055" y="3429000"/>
            <a:ext cx="2057400" cy="1554480"/>
          </a:xfrm>
          <a:prstGeom prst="rect">
            <a:avLst/>
          </a:prstGeom>
          <a:noFill/>
          <a:ln/>
        </p:spPr>
        <p:txBody>
          <a:bodyPr wrap="square" lIns="0" tIns="0" rIns="0" bIns="0" rtlCol="0" anchor="t"/>
          <a:lstStyle/>
          <a:p>
            <a:pPr indent="0" marL="0">
              <a:buNone/>
            </a:pPr>
            <a:r>
              <a:rPr lang="en-US" sz="1400" dirty="0">
                <a:solidFill>
                  <a:schemeClr val="tx1"/>
                </a:solidFill>
              </a:rPr>
              <a:t>Only BB Daily and Country Delight offer per-day milk subscriptions, and both sell their own stock. Nobody lets you pick your local dairy.</a:t>
            </a:r>
            <a:endParaRPr lang="en-US" sz="1400" dirty="0"/>
          </a:p>
        </p:txBody>
      </p:sp>
      <p:sp>
        <p:nvSpPr>
          <p:cNvPr id="14" name="Shape 9"/>
          <p:cNvSpPr/>
          <p:nvPr/>
        </p:nvSpPr>
        <p:spPr>
          <a:xfrm>
            <a:off x="6186830" y="1325880"/>
            <a:ext cx="2606040" cy="3749040"/>
          </a:xfrm>
          <a:prstGeom prst="roundRect">
            <a:avLst>
              <a:gd name="adj" fmla="val 2807"/>
            </a:avLst>
          </a:prstGeom>
          <a:solidFill>
            <a:schemeClr val="bg2"/>
          </a:solidFill>
          <a:ln/>
        </p:spPr>
      </p:sp>
      <p:sp>
        <p:nvSpPr>
          <p:cNvPr id="15" name="Shape 10"/>
          <p:cNvSpPr/>
          <p:nvPr/>
        </p:nvSpPr>
        <p:spPr>
          <a:xfrm>
            <a:off x="6461150" y="1645920"/>
            <a:ext cx="685800" cy="685800"/>
          </a:xfrm>
          <a:prstGeom prst="ellipse">
            <a:avLst/>
          </a:prstGeom>
          <a:solidFill>
            <a:schemeClr val="accent2"/>
          </a:solidFill>
          <a:ln/>
        </p:spPr>
      </p:sp>
      <p:pic>
        <p:nvPicPr>
          <p:cNvPr id="16" name="Image 2" descr="preencoded.png">    </p:cNvPr>
          <p:cNvPicPr>
            <a:picLocks noChangeAspect="1"/>
          </p:cNvPicPr>
          <p:nvPr/>
        </p:nvPicPr>
        <p:blipFill>
          <a:blip r:embed="rId3"/>
          <a:stretch>
            <a:fillRect/>
          </a:stretch>
        </p:blipFill>
        <p:spPr>
          <a:xfrm>
            <a:off x="6625742" y="1810512"/>
            <a:ext cx="356616" cy="356616"/>
          </a:xfrm>
          <a:prstGeom prst="rect">
            <a:avLst/>
          </a:prstGeom>
        </p:spPr>
      </p:pic>
      <p:sp>
        <p:nvSpPr>
          <p:cNvPr id="17" name="Text 11"/>
          <p:cNvSpPr txBox="1"/>
          <p:nvPr/>
        </p:nvSpPr>
        <p:spPr>
          <a:xfrm>
            <a:off x="6461150" y="2514600"/>
            <a:ext cx="2057400" cy="91440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GoKesari leads on proposition</a:t>
            </a:r>
            <a:endParaRPr lang="en-US" sz="1800" dirty="0"/>
          </a:p>
        </p:txBody>
      </p:sp>
      <p:sp>
        <p:nvSpPr>
          <p:cNvPr id="18" name="Text 12"/>
          <p:cNvSpPr txBox="1"/>
          <p:nvPr/>
        </p:nvSpPr>
        <p:spPr>
          <a:xfrm>
            <a:off x="6461150" y="3429000"/>
            <a:ext cx="2057400" cy="1554480"/>
          </a:xfrm>
          <a:prstGeom prst="rect">
            <a:avLst/>
          </a:prstGeom>
          <a:noFill/>
          <a:ln/>
        </p:spPr>
        <p:txBody>
          <a:bodyPr wrap="square" lIns="0" tIns="0" rIns="0" bIns="0" rtlCol="0" anchor="t"/>
          <a:lstStyle/>
          <a:p>
            <a:pPr indent="0" marL="0">
              <a:buNone/>
            </a:pPr>
            <a:r>
              <a:rPr lang="en-US" sz="1400" dirty="0">
                <a:solidFill>
                  <a:schemeClr val="tx1"/>
                </a:solidFill>
              </a:rPr>
              <a:t>Local-shop choice, flexible subscriptions, Kesari/Green shop grades, no hidden fees and 1% seller commission. Proposition score 8.2/10, the highest of 11.</a:t>
            </a:r>
            <a:endParaRPr lang="en-US" sz="1400" dirty="0"/>
          </a:p>
        </p:txBody>
      </p:sp>
      <p:sp>
        <p:nvSpPr>
          <p:cNvPr id="19" name="Shape 13"/>
          <p:cNvSpPr/>
          <p:nvPr/>
        </p:nvSpPr>
        <p:spPr>
          <a:xfrm>
            <a:off x="9005926" y="1325880"/>
            <a:ext cx="2606040" cy="3749040"/>
          </a:xfrm>
          <a:prstGeom prst="roundRect">
            <a:avLst>
              <a:gd name="adj" fmla="val 2807"/>
            </a:avLst>
          </a:prstGeom>
          <a:solidFill>
            <a:schemeClr val="bg2"/>
          </a:solidFill>
          <a:ln/>
        </p:spPr>
      </p:sp>
      <p:sp>
        <p:nvSpPr>
          <p:cNvPr id="20" name="Shape 14"/>
          <p:cNvSpPr/>
          <p:nvPr/>
        </p:nvSpPr>
        <p:spPr>
          <a:xfrm>
            <a:off x="9280246" y="1645920"/>
            <a:ext cx="685800" cy="685800"/>
          </a:xfrm>
          <a:prstGeom prst="ellipse">
            <a:avLst/>
          </a:prstGeom>
          <a:solidFill>
            <a:schemeClr val="accent1"/>
          </a:solidFill>
          <a:ln/>
        </p:spPr>
      </p:sp>
      <p:pic>
        <p:nvPicPr>
          <p:cNvPr id="21" name="Image 3" descr="preencoded.png">    </p:cNvPr>
          <p:cNvPicPr>
            <a:picLocks noChangeAspect="1"/>
          </p:cNvPicPr>
          <p:nvPr/>
        </p:nvPicPr>
        <p:blipFill>
          <a:blip r:embed="rId4"/>
          <a:stretch>
            <a:fillRect/>
          </a:stretch>
        </p:blipFill>
        <p:spPr>
          <a:xfrm>
            <a:off x="9444838" y="1810512"/>
            <a:ext cx="356616" cy="356616"/>
          </a:xfrm>
          <a:prstGeom prst="rect">
            <a:avLst/>
          </a:prstGeom>
        </p:spPr>
      </p:pic>
      <p:sp>
        <p:nvSpPr>
          <p:cNvPr id="22" name="Text 15"/>
          <p:cNvSpPr txBox="1"/>
          <p:nvPr/>
        </p:nvSpPr>
        <p:spPr>
          <a:xfrm>
            <a:off x="9280246" y="2514600"/>
            <a:ext cx="2057400" cy="91440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Win a niche before going broad</a:t>
            </a:r>
            <a:endParaRPr lang="en-US" sz="1800" dirty="0"/>
          </a:p>
        </p:txBody>
      </p:sp>
      <p:sp>
        <p:nvSpPr>
          <p:cNvPr id="23" name="Text 16"/>
          <p:cNvSpPr txBox="1"/>
          <p:nvPr/>
        </p:nvSpPr>
        <p:spPr>
          <a:xfrm>
            <a:off x="9280246" y="3429000"/>
            <a:ext cx="2057400" cy="1554480"/>
          </a:xfrm>
          <a:prstGeom prst="rect">
            <a:avLst/>
          </a:prstGeom>
          <a:noFill/>
          <a:ln/>
        </p:spPr>
        <p:txBody>
          <a:bodyPr wrap="square" lIns="0" tIns="0" rIns="0" bIns="0" rtlCol="0" anchor="t"/>
          <a:lstStyle/>
          <a:p>
            <a:pPr indent="0" marL="0">
              <a:buNone/>
            </a:pPr>
            <a:r>
              <a:rPr lang="en-US" sz="1400" dirty="0">
                <a:solidFill>
                  <a:schemeClr val="tx1"/>
                </a:solidFill>
              </a:rPr>
              <a:t>GoKesari trails on speed, scale and brand (2.8/10). Overall 6.0/10. Start with Pune dairy &amp; bakery and housing societies.</a:t>
            </a:r>
            <a:endParaRPr lang="en-US" sz="1400" dirty="0"/>
          </a:p>
        </p:txBody>
      </p:sp>
      <p:sp>
        <p:nvSpPr>
          <p:cNvPr id="24" name="Shape 17"/>
          <p:cNvSpPr/>
          <p:nvPr/>
        </p:nvSpPr>
        <p:spPr>
          <a:xfrm>
            <a:off x="548640" y="5303520"/>
            <a:ext cx="11064240" cy="868680"/>
          </a:xfrm>
          <a:prstGeom prst="roundRect">
            <a:avLst>
              <a:gd name="adj" fmla="val 8421"/>
            </a:avLst>
          </a:prstGeom>
          <a:solidFill>
            <a:schemeClr val="tx2"/>
          </a:solidFill>
          <a:ln/>
        </p:spPr>
      </p:sp>
      <p:sp>
        <p:nvSpPr>
          <p:cNvPr id="25" name="Text 18"/>
          <p:cNvSpPr txBox="1"/>
          <p:nvPr/>
        </p:nvSpPr>
        <p:spPr>
          <a:xfrm>
            <a:off x="822960" y="5349240"/>
            <a:ext cx="10515600" cy="777240"/>
          </a:xfrm>
          <a:prstGeom prst="rect">
            <a:avLst/>
          </a:prstGeom>
          <a:noFill/>
          <a:ln/>
        </p:spPr>
        <p:txBody>
          <a:bodyPr wrap="square" lIns="0" tIns="0" rIns="0" bIns="0" rtlCol="0" anchor="ctr"/>
          <a:lstStyle/>
          <a:p>
            <a:pPr indent="0" marL="0">
              <a:buNone/>
            </a:pPr>
            <a:r>
              <a:rPr lang="en-US" sz="1800" b="1" dirty="0">
                <a:solidFill>
                  <a:schemeClr val="accent3"/>
                </a:solidFill>
              </a:rPr>
              <a:t>GoKesari rating:  </a:t>
            </a:r>
            <a:pPr indent="0" marL="0">
              <a:buNone/>
            </a:pPr>
            <a:r>
              <a:rPr lang="en-US" sz="1800" b="1" dirty="0">
                <a:solidFill>
                  <a:schemeClr val="bg1"/>
                </a:solidFill>
              </a:rPr>
              <a:t>Proposition 8.2/10 (#1 of 11)   ·   Market strength 2.8/10 (#11 of 11)   ·   Overall 6.0/10</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India's market is large and growing fast</a:t>
            </a:r>
            <a:endParaRPr lang="en-US" sz="3200" dirty="0"/>
          </a:p>
        </p:txBody>
      </p:sp>
      <p:sp>
        <p:nvSpPr>
          <p:cNvPr id="4" name="Shape 1"/>
          <p:cNvSpPr/>
          <p:nvPr/>
        </p:nvSpPr>
        <p:spPr>
          <a:xfrm>
            <a:off x="548640" y="1417320"/>
            <a:ext cx="2606040" cy="2377440"/>
          </a:xfrm>
          <a:prstGeom prst="roundRect">
            <a:avLst>
              <a:gd name="adj" fmla="val 3077"/>
            </a:avLst>
          </a:prstGeom>
          <a:solidFill>
            <a:schemeClr val="bg2"/>
          </a:solidFill>
          <a:ln/>
        </p:spPr>
      </p:sp>
      <p:sp>
        <p:nvSpPr>
          <p:cNvPr id="5" name="Text 2"/>
          <p:cNvSpPr txBox="1"/>
          <p:nvPr/>
        </p:nvSpPr>
        <p:spPr>
          <a:xfrm>
            <a:off x="777240" y="1645920"/>
            <a:ext cx="2148840" cy="82296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US$13bn</a:t>
            </a:r>
            <a:endParaRPr lang="en-US" sz="4000" dirty="0"/>
          </a:p>
        </p:txBody>
      </p:sp>
      <p:sp>
        <p:nvSpPr>
          <p:cNvPr id="6" name="Text 3"/>
          <p:cNvSpPr txBox="1"/>
          <p:nvPr/>
        </p:nvSpPr>
        <p:spPr>
          <a:xfrm>
            <a:off x="777240" y="2514600"/>
            <a:ext cx="2148840" cy="457200"/>
          </a:xfrm>
          <a:prstGeom prst="rect">
            <a:avLst/>
          </a:prstGeom>
          <a:noFill/>
          <a:ln/>
        </p:spPr>
        <p:txBody>
          <a:bodyPr wrap="square" lIns="0" tIns="0" rIns="0" bIns="0" rtlCol="0" anchor="t"/>
          <a:lstStyle/>
          <a:p>
            <a:pPr indent="0" marL="0">
              <a:buNone/>
            </a:pPr>
            <a:r>
              <a:rPr lang="en-US" sz="1500" b="1" dirty="0">
                <a:solidFill>
                  <a:schemeClr val="tx2"/>
                </a:solidFill>
              </a:rPr>
              <a:t>Quick commerce, FY26</a:t>
            </a:r>
            <a:endParaRPr lang="en-US" sz="1500" dirty="0"/>
          </a:p>
        </p:txBody>
      </p:sp>
      <p:sp>
        <p:nvSpPr>
          <p:cNvPr id="7" name="Text 4"/>
          <p:cNvSpPr txBox="1"/>
          <p:nvPr/>
        </p:nvSpPr>
        <p:spPr>
          <a:xfrm>
            <a:off x="777240" y="2971800"/>
            <a:ext cx="2148840" cy="685800"/>
          </a:xfrm>
          <a:prstGeom prst="rect">
            <a:avLst/>
          </a:prstGeom>
          <a:noFill/>
          <a:ln/>
        </p:spPr>
        <p:txBody>
          <a:bodyPr wrap="square" lIns="0" tIns="0" rIns="0" bIns="0" rtlCol="0" anchor="t"/>
          <a:lstStyle/>
          <a:p>
            <a:pPr indent="0" marL="0">
              <a:buNone/>
            </a:pPr>
            <a:r>
              <a:rPr lang="en-US" sz="1200" dirty="0">
                <a:solidFill>
                  <a:schemeClr val="accent4"/>
                </a:solidFill>
              </a:rPr>
              <a:t>→ ~US$90bn by FY31 (Google–Redseer)</a:t>
            </a:r>
            <a:endParaRPr lang="en-US" sz="1200" dirty="0"/>
          </a:p>
        </p:txBody>
      </p:sp>
      <p:sp>
        <p:nvSpPr>
          <p:cNvPr id="8" name="Shape 5"/>
          <p:cNvSpPr/>
          <p:nvPr/>
        </p:nvSpPr>
        <p:spPr>
          <a:xfrm>
            <a:off x="3367735" y="1417320"/>
            <a:ext cx="2606040" cy="2377440"/>
          </a:xfrm>
          <a:prstGeom prst="roundRect">
            <a:avLst>
              <a:gd name="adj" fmla="val 3077"/>
            </a:avLst>
          </a:prstGeom>
          <a:solidFill>
            <a:schemeClr val="bg2"/>
          </a:solidFill>
          <a:ln/>
        </p:spPr>
      </p:sp>
      <p:sp>
        <p:nvSpPr>
          <p:cNvPr id="9" name="Text 6"/>
          <p:cNvSpPr txBox="1"/>
          <p:nvPr/>
        </p:nvSpPr>
        <p:spPr>
          <a:xfrm>
            <a:off x="3596335" y="1645920"/>
            <a:ext cx="2148840" cy="82296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US$65bn</a:t>
            </a:r>
            <a:endParaRPr lang="en-US" sz="4000" dirty="0"/>
          </a:p>
        </p:txBody>
      </p:sp>
      <p:sp>
        <p:nvSpPr>
          <p:cNvPr id="10" name="Text 7"/>
          <p:cNvSpPr txBox="1"/>
          <p:nvPr/>
        </p:nvSpPr>
        <p:spPr>
          <a:xfrm>
            <a:off x="3596335" y="2514600"/>
            <a:ext cx="2148840" cy="457200"/>
          </a:xfrm>
          <a:prstGeom prst="rect">
            <a:avLst/>
          </a:prstGeom>
          <a:noFill/>
          <a:ln/>
        </p:spPr>
        <p:txBody>
          <a:bodyPr wrap="square" lIns="0" tIns="0" rIns="0" bIns="0" rtlCol="0" anchor="t"/>
          <a:lstStyle/>
          <a:p>
            <a:pPr indent="0" marL="0">
              <a:buNone/>
            </a:pPr>
            <a:r>
              <a:rPr lang="en-US" sz="1500" b="1" dirty="0">
                <a:solidFill>
                  <a:schemeClr val="tx2"/>
                </a:solidFill>
              </a:rPr>
              <a:t>E-retail GMV, 2025</a:t>
            </a:r>
            <a:endParaRPr lang="en-US" sz="1500" dirty="0"/>
          </a:p>
        </p:txBody>
      </p:sp>
      <p:sp>
        <p:nvSpPr>
          <p:cNvPr id="11" name="Text 8"/>
          <p:cNvSpPr txBox="1"/>
          <p:nvPr/>
        </p:nvSpPr>
        <p:spPr>
          <a:xfrm>
            <a:off x="3596335" y="2971800"/>
            <a:ext cx="2148840" cy="685800"/>
          </a:xfrm>
          <a:prstGeom prst="rect">
            <a:avLst/>
          </a:prstGeom>
          <a:noFill/>
          <a:ln/>
        </p:spPr>
        <p:txBody>
          <a:bodyPr wrap="square" lIns="0" tIns="0" rIns="0" bIns="0" rtlCol="0" anchor="t"/>
          <a:lstStyle/>
          <a:p>
            <a:pPr indent="0" marL="0">
              <a:buNone/>
            </a:pPr>
            <a:r>
              <a:rPr lang="en-US" sz="1200" dirty="0">
                <a:solidFill>
                  <a:schemeClr val="accent4"/>
                </a:solidFill>
              </a:rPr>
              <a:t>~20% growth; 290–300M online shoppers (Bain)</a:t>
            </a:r>
            <a:endParaRPr lang="en-US" sz="1200" dirty="0"/>
          </a:p>
        </p:txBody>
      </p:sp>
      <p:sp>
        <p:nvSpPr>
          <p:cNvPr id="12" name="Shape 9"/>
          <p:cNvSpPr/>
          <p:nvPr/>
        </p:nvSpPr>
        <p:spPr>
          <a:xfrm>
            <a:off x="6186830" y="1417320"/>
            <a:ext cx="2606040" cy="2377440"/>
          </a:xfrm>
          <a:prstGeom prst="roundRect">
            <a:avLst>
              <a:gd name="adj" fmla="val 3077"/>
            </a:avLst>
          </a:prstGeom>
          <a:solidFill>
            <a:schemeClr val="bg2"/>
          </a:solidFill>
          <a:ln/>
        </p:spPr>
      </p:sp>
      <p:sp>
        <p:nvSpPr>
          <p:cNvPr id="13" name="Text 10"/>
          <p:cNvSpPr txBox="1"/>
          <p:nvPr/>
        </p:nvSpPr>
        <p:spPr>
          <a:xfrm>
            <a:off x="6415430" y="1645920"/>
            <a:ext cx="2148840" cy="82296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₹21.3L Cr</a:t>
            </a:r>
            <a:endParaRPr lang="en-US" sz="4000" dirty="0"/>
          </a:p>
        </p:txBody>
      </p:sp>
      <p:sp>
        <p:nvSpPr>
          <p:cNvPr id="14" name="Text 11"/>
          <p:cNvSpPr txBox="1"/>
          <p:nvPr/>
        </p:nvSpPr>
        <p:spPr>
          <a:xfrm>
            <a:off x="6415430" y="2514600"/>
            <a:ext cx="2148840" cy="457200"/>
          </a:xfrm>
          <a:prstGeom prst="rect">
            <a:avLst/>
          </a:prstGeom>
          <a:noFill/>
          <a:ln/>
        </p:spPr>
        <p:txBody>
          <a:bodyPr wrap="square" lIns="0" tIns="0" rIns="0" bIns="0" rtlCol="0" anchor="t"/>
          <a:lstStyle/>
          <a:p>
            <a:pPr indent="0" marL="0">
              <a:buNone/>
            </a:pPr>
            <a:r>
              <a:rPr lang="en-US" sz="1500" b="1" dirty="0">
                <a:solidFill>
                  <a:schemeClr val="tx2"/>
                </a:solidFill>
              </a:rPr>
              <a:t>Indian dairy industry, 2025</a:t>
            </a:r>
            <a:endParaRPr lang="en-US" sz="1500" dirty="0"/>
          </a:p>
        </p:txBody>
      </p:sp>
      <p:sp>
        <p:nvSpPr>
          <p:cNvPr id="15" name="Text 12"/>
          <p:cNvSpPr txBox="1"/>
          <p:nvPr/>
        </p:nvSpPr>
        <p:spPr>
          <a:xfrm>
            <a:off x="6415430" y="2971800"/>
            <a:ext cx="2148840" cy="685800"/>
          </a:xfrm>
          <a:prstGeom prst="rect">
            <a:avLst/>
          </a:prstGeom>
          <a:noFill/>
          <a:ln/>
        </p:spPr>
        <p:txBody>
          <a:bodyPr wrap="square" lIns="0" tIns="0" rIns="0" bIns="0" rtlCol="0" anchor="t"/>
          <a:lstStyle/>
          <a:p>
            <a:pPr indent="0" marL="0">
              <a:buNone/>
            </a:pPr>
            <a:r>
              <a:rPr lang="en-US" sz="1200" dirty="0">
                <a:solidFill>
                  <a:schemeClr val="accent4"/>
                </a:solidFill>
              </a:rPr>
              <a:t>~12% CAGR; liquid milk ~48% of it (IMARC)</a:t>
            </a:r>
            <a:endParaRPr lang="en-US" sz="1200" dirty="0"/>
          </a:p>
        </p:txBody>
      </p:sp>
      <p:sp>
        <p:nvSpPr>
          <p:cNvPr id="16" name="Shape 13"/>
          <p:cNvSpPr/>
          <p:nvPr/>
        </p:nvSpPr>
        <p:spPr>
          <a:xfrm>
            <a:off x="9005926" y="1417320"/>
            <a:ext cx="2606040" cy="2377440"/>
          </a:xfrm>
          <a:prstGeom prst="roundRect">
            <a:avLst>
              <a:gd name="adj" fmla="val 3077"/>
            </a:avLst>
          </a:prstGeom>
          <a:solidFill>
            <a:schemeClr val="bg2"/>
          </a:solidFill>
          <a:ln/>
        </p:spPr>
      </p:sp>
      <p:sp>
        <p:nvSpPr>
          <p:cNvPr id="17" name="Text 14"/>
          <p:cNvSpPr txBox="1"/>
          <p:nvPr/>
        </p:nvSpPr>
        <p:spPr>
          <a:xfrm>
            <a:off x="9234526" y="1645920"/>
            <a:ext cx="2148840" cy="82296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5,026</a:t>
            </a:r>
            <a:endParaRPr lang="en-US" sz="4000" dirty="0"/>
          </a:p>
        </p:txBody>
      </p:sp>
      <p:sp>
        <p:nvSpPr>
          <p:cNvPr id="18" name="Text 15"/>
          <p:cNvSpPr txBox="1"/>
          <p:nvPr/>
        </p:nvSpPr>
        <p:spPr>
          <a:xfrm>
            <a:off x="9234526" y="2514600"/>
            <a:ext cx="2148840" cy="457200"/>
          </a:xfrm>
          <a:prstGeom prst="rect">
            <a:avLst/>
          </a:prstGeom>
          <a:noFill/>
          <a:ln/>
        </p:spPr>
        <p:txBody>
          <a:bodyPr wrap="square" lIns="0" tIns="0" rIns="0" bIns="0" rtlCol="0" anchor="t"/>
          <a:lstStyle/>
          <a:p>
            <a:pPr indent="0" marL="0">
              <a:buNone/>
            </a:pPr>
            <a:r>
              <a:rPr lang="en-US" sz="1500" b="1" dirty="0">
                <a:solidFill>
                  <a:schemeClr val="tx2"/>
                </a:solidFill>
              </a:rPr>
              <a:t>Big-three dark stores, May 2026</a:t>
            </a:r>
            <a:endParaRPr lang="en-US" sz="1500" dirty="0"/>
          </a:p>
        </p:txBody>
      </p:sp>
      <p:sp>
        <p:nvSpPr>
          <p:cNvPr id="19" name="Text 16"/>
          <p:cNvSpPr txBox="1"/>
          <p:nvPr/>
        </p:nvSpPr>
        <p:spPr>
          <a:xfrm>
            <a:off x="9234526" y="2971800"/>
            <a:ext cx="2148840" cy="685800"/>
          </a:xfrm>
          <a:prstGeom prst="rect">
            <a:avLst/>
          </a:prstGeom>
          <a:noFill/>
          <a:ln/>
        </p:spPr>
        <p:txBody>
          <a:bodyPr wrap="square" lIns="0" tIns="0" rIns="0" bIns="0" rtlCol="0" anchor="t"/>
          <a:lstStyle/>
          <a:p>
            <a:pPr indent="0" marL="0">
              <a:buNone/>
            </a:pPr>
            <a:r>
              <a:rPr lang="en-US" sz="1200" dirty="0">
                <a:solidFill>
                  <a:schemeClr val="accent4"/>
                </a:solidFill>
              </a:rPr>
              <a:t>Up from 3,405 a year earlier (Business Standard)</a:t>
            </a:r>
            <a:endParaRPr lang="en-US" sz="1200" dirty="0"/>
          </a:p>
        </p:txBody>
      </p:sp>
      <p:sp>
        <p:nvSpPr>
          <p:cNvPr id="20" name="Text 17"/>
          <p:cNvSpPr txBox="1"/>
          <p:nvPr/>
        </p:nvSpPr>
        <p:spPr>
          <a:xfrm>
            <a:off x="548640" y="4114800"/>
            <a:ext cx="11064240" cy="41148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The rules are tightening, and that favours a transparent, trust-led player</a:t>
            </a:r>
            <a:endParaRPr lang="en-US" sz="1800" dirty="0"/>
          </a:p>
        </p:txBody>
      </p:sp>
      <p:sp>
        <p:nvSpPr>
          <p:cNvPr id="21" name="Shape 18"/>
          <p:cNvSpPr/>
          <p:nvPr/>
        </p:nvSpPr>
        <p:spPr>
          <a:xfrm>
            <a:off x="548640" y="4709160"/>
            <a:ext cx="548640" cy="548640"/>
          </a:xfrm>
          <a:prstGeom prst="ellipse">
            <a:avLst/>
          </a:prstGeom>
          <a:solidFill>
            <a:schemeClr val="accent5"/>
          </a:solidFill>
          <a:ln/>
        </p:spPr>
      </p:sp>
      <p:pic>
        <p:nvPicPr>
          <p:cNvPr id="22" name="Image 0" descr="preencoded.png">    </p:cNvPr>
          <p:cNvPicPr>
            <a:picLocks noChangeAspect="1"/>
          </p:cNvPicPr>
          <p:nvPr/>
        </p:nvPicPr>
        <p:blipFill>
          <a:blip r:embed="rId1"/>
          <a:stretch>
            <a:fillRect/>
          </a:stretch>
        </p:blipFill>
        <p:spPr>
          <a:xfrm>
            <a:off x="680314" y="4840834"/>
            <a:ext cx="285293" cy="285293"/>
          </a:xfrm>
          <a:prstGeom prst="rect">
            <a:avLst/>
          </a:prstGeom>
        </p:spPr>
      </p:pic>
      <p:sp>
        <p:nvSpPr>
          <p:cNvPr id="23" name="Text 19"/>
          <p:cNvSpPr txBox="1"/>
          <p:nvPr/>
        </p:nvSpPr>
        <p:spPr>
          <a:xfrm>
            <a:off x="1280160" y="4663440"/>
            <a:ext cx="2834640" cy="320040"/>
          </a:xfrm>
          <a:prstGeom prst="rect">
            <a:avLst/>
          </a:prstGeom>
          <a:noFill/>
          <a:ln/>
        </p:spPr>
        <p:txBody>
          <a:bodyPr wrap="square" lIns="0" tIns="0" rIns="0" bIns="0" rtlCol="0" anchor="t"/>
          <a:lstStyle/>
          <a:p>
            <a:pPr indent="0" marL="0">
              <a:buNone/>
            </a:pPr>
            <a:r>
              <a:rPr lang="en-US" sz="1500" b="1" dirty="0">
                <a:solidFill>
                  <a:schemeClr val="tx2"/>
                </a:solidFill>
              </a:rPr>
              <a:t>Dark patterns</a:t>
            </a:r>
            <a:endParaRPr lang="en-US" sz="1500" dirty="0"/>
          </a:p>
        </p:txBody>
      </p:sp>
      <p:sp>
        <p:nvSpPr>
          <p:cNvPr id="24" name="Text 20"/>
          <p:cNvSpPr txBox="1"/>
          <p:nvPr/>
        </p:nvSpPr>
        <p:spPr>
          <a:xfrm>
            <a:off x="1280160" y="4983480"/>
            <a:ext cx="2834640" cy="1188720"/>
          </a:xfrm>
          <a:prstGeom prst="rect">
            <a:avLst/>
          </a:prstGeom>
          <a:noFill/>
          <a:ln/>
        </p:spPr>
        <p:txBody>
          <a:bodyPr wrap="square" lIns="0" tIns="0" rIns="0" bIns="0" rtlCol="0" anchor="t"/>
          <a:lstStyle/>
          <a:p>
            <a:pPr indent="0" marL="0">
              <a:buNone/>
            </a:pPr>
            <a:r>
              <a:rPr lang="en-US" sz="1200" dirty="0">
                <a:solidFill>
                  <a:schemeClr val="tx1"/>
                </a:solidFill>
              </a:rPr>
              <a:t>CCPA fined Zepto ₹7 lakh for drip pricing and basket sneaking; 9 platforms penalised (Aug 2026).</a:t>
            </a:r>
            <a:endParaRPr lang="en-US" sz="1200" dirty="0"/>
          </a:p>
        </p:txBody>
      </p:sp>
      <p:sp>
        <p:nvSpPr>
          <p:cNvPr id="25" name="Shape 21"/>
          <p:cNvSpPr/>
          <p:nvPr/>
        </p:nvSpPr>
        <p:spPr>
          <a:xfrm>
            <a:off x="4270248" y="4709160"/>
            <a:ext cx="548640" cy="548640"/>
          </a:xfrm>
          <a:prstGeom prst="ellipse">
            <a:avLst/>
          </a:prstGeom>
          <a:solidFill>
            <a:schemeClr val="accent5"/>
          </a:solidFill>
          <a:ln/>
        </p:spPr>
      </p:sp>
      <p:pic>
        <p:nvPicPr>
          <p:cNvPr id="26" name="Image 1" descr="preencoded.png">    </p:cNvPr>
          <p:cNvPicPr>
            <a:picLocks noChangeAspect="1"/>
          </p:cNvPicPr>
          <p:nvPr/>
        </p:nvPicPr>
        <p:blipFill>
          <a:blip r:embed="rId2"/>
          <a:stretch>
            <a:fillRect/>
          </a:stretch>
        </p:blipFill>
        <p:spPr>
          <a:xfrm>
            <a:off x="4401922" y="4840834"/>
            <a:ext cx="285293" cy="285293"/>
          </a:xfrm>
          <a:prstGeom prst="rect">
            <a:avLst/>
          </a:prstGeom>
        </p:spPr>
      </p:pic>
      <p:sp>
        <p:nvSpPr>
          <p:cNvPr id="27" name="Text 22"/>
          <p:cNvSpPr txBox="1"/>
          <p:nvPr/>
        </p:nvSpPr>
        <p:spPr>
          <a:xfrm>
            <a:off x="5001768" y="4663440"/>
            <a:ext cx="2834640" cy="320040"/>
          </a:xfrm>
          <a:prstGeom prst="rect">
            <a:avLst/>
          </a:prstGeom>
          <a:noFill/>
          <a:ln/>
        </p:spPr>
        <p:txBody>
          <a:bodyPr wrap="square" lIns="0" tIns="0" rIns="0" bIns="0" rtlCol="0" anchor="t"/>
          <a:lstStyle/>
          <a:p>
            <a:pPr indent="0" marL="0">
              <a:buNone/>
            </a:pPr>
            <a:r>
              <a:rPr lang="en-US" sz="1500" b="1" dirty="0">
                <a:solidFill>
                  <a:schemeClr val="tx2"/>
                </a:solidFill>
              </a:rPr>
              <a:t>Food safety</a:t>
            </a:r>
            <a:endParaRPr lang="en-US" sz="1500" dirty="0"/>
          </a:p>
        </p:txBody>
      </p:sp>
      <p:sp>
        <p:nvSpPr>
          <p:cNvPr id="28" name="Text 23"/>
          <p:cNvSpPr txBox="1"/>
          <p:nvPr/>
        </p:nvSpPr>
        <p:spPr>
          <a:xfrm>
            <a:off x="5001768" y="4983480"/>
            <a:ext cx="2834640" cy="1188720"/>
          </a:xfrm>
          <a:prstGeom prst="rect">
            <a:avLst/>
          </a:prstGeom>
          <a:noFill/>
          <a:ln/>
        </p:spPr>
        <p:txBody>
          <a:bodyPr wrap="square" lIns="0" tIns="0" rIns="0" bIns="0" rtlCol="0" anchor="t"/>
          <a:lstStyle/>
          <a:p>
            <a:pPr indent="0" marL="0">
              <a:buNone/>
            </a:pPr>
            <a:r>
              <a:rPr lang="en-US" sz="1200" dirty="0">
                <a:solidFill>
                  <a:schemeClr val="tx1"/>
                </a:solidFill>
              </a:rPr>
              <a:t>Maharashtra FDA suspended 14 dark-store licences; Telangana suspended 4 (30 Sep 2026).</a:t>
            </a:r>
            <a:endParaRPr lang="en-US" sz="1200" dirty="0"/>
          </a:p>
        </p:txBody>
      </p:sp>
      <p:sp>
        <p:nvSpPr>
          <p:cNvPr id="29" name="Shape 24"/>
          <p:cNvSpPr/>
          <p:nvPr/>
        </p:nvSpPr>
        <p:spPr>
          <a:xfrm>
            <a:off x="7991856" y="4709160"/>
            <a:ext cx="548640" cy="548640"/>
          </a:xfrm>
          <a:prstGeom prst="ellipse">
            <a:avLst/>
          </a:prstGeom>
          <a:solidFill>
            <a:schemeClr val="accent5"/>
          </a:solidFill>
          <a:ln/>
        </p:spPr>
      </p:sp>
      <p:pic>
        <p:nvPicPr>
          <p:cNvPr id="30" name="Image 2" descr="preencoded.png">    </p:cNvPr>
          <p:cNvPicPr>
            <a:picLocks noChangeAspect="1"/>
          </p:cNvPicPr>
          <p:nvPr/>
        </p:nvPicPr>
        <p:blipFill>
          <a:blip r:embed="rId3"/>
          <a:stretch>
            <a:fillRect/>
          </a:stretch>
        </p:blipFill>
        <p:spPr>
          <a:xfrm>
            <a:off x="8123530" y="4840834"/>
            <a:ext cx="285293" cy="285293"/>
          </a:xfrm>
          <a:prstGeom prst="rect">
            <a:avLst/>
          </a:prstGeom>
        </p:spPr>
      </p:pic>
      <p:sp>
        <p:nvSpPr>
          <p:cNvPr id="31" name="Text 25"/>
          <p:cNvSpPr txBox="1"/>
          <p:nvPr/>
        </p:nvSpPr>
        <p:spPr>
          <a:xfrm>
            <a:off x="8723376" y="4663440"/>
            <a:ext cx="2834640" cy="320040"/>
          </a:xfrm>
          <a:prstGeom prst="rect">
            <a:avLst/>
          </a:prstGeom>
          <a:noFill/>
          <a:ln/>
        </p:spPr>
        <p:txBody>
          <a:bodyPr wrap="square" lIns="0" tIns="0" rIns="0" bIns="0" rtlCol="0" anchor="t"/>
          <a:lstStyle/>
          <a:p>
            <a:pPr indent="0" marL="0">
              <a:buNone/>
            </a:pPr>
            <a:r>
              <a:rPr lang="en-US" sz="1500" b="1" dirty="0">
                <a:solidFill>
                  <a:schemeClr val="tx2"/>
                </a:solidFill>
              </a:rPr>
              <a:t>Kirana pressure</a:t>
            </a:r>
            <a:endParaRPr lang="en-US" sz="1500" dirty="0"/>
          </a:p>
        </p:txBody>
      </p:sp>
      <p:sp>
        <p:nvSpPr>
          <p:cNvPr id="32" name="Text 26"/>
          <p:cNvSpPr txBox="1"/>
          <p:nvPr/>
        </p:nvSpPr>
        <p:spPr>
          <a:xfrm>
            <a:off x="8723376" y="4983480"/>
            <a:ext cx="2834640" cy="1188720"/>
          </a:xfrm>
          <a:prstGeom prst="rect">
            <a:avLst/>
          </a:prstGeom>
          <a:noFill/>
          <a:ln/>
        </p:spPr>
        <p:txBody>
          <a:bodyPr wrap="square" lIns="0" tIns="0" rIns="0" bIns="0" rtlCol="0" anchor="t"/>
          <a:lstStyle/>
          <a:p>
            <a:pPr indent="0" marL="0">
              <a:buNone/>
            </a:pPr>
            <a:r>
              <a:rPr lang="en-US" sz="1200" dirty="0">
                <a:solidFill>
                  <a:schemeClr val="tx1"/>
                </a:solidFill>
              </a:rPr>
              <a:t>Distributors' federation alleges ~2 lakh kirana closures from quick-commerce pricing.</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The 10 competitors at a glance</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1417320"/>
                <a:gridCol w="2194560"/>
                <a:gridCol w="1508760"/>
                <a:gridCol w="2148840"/>
                <a:gridCol w="2651760"/>
                <a:gridCol w="1143000"/>
              </a:tblGrid>
              <a:tr h="384048">
                <a:tc>
                  <a:txBody>
                    <a:bodyPr/>
                    <a:lstStyle/>
                    <a:p>
                      <a:pPr indent="0" marL="0">
                        <a:buNone/>
                      </a:pPr>
                      <a:r>
                        <a:rPr lang="en-US" sz="1100" b="1" dirty="0">
                          <a:solidFill>
                            <a:schemeClr val="bg1"/>
                          </a:solidFill>
                        </a:rPr>
                        <a:t>Company</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Model</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Parent</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Delivery promise</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Latest scale</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App rating</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tx2"/>
                    </a:solidFill>
                  </a:tcPr>
                </a:tc>
              </a:tr>
              <a:tr h="384048">
                <a:tc>
                  <a:txBody>
                    <a:bodyPr/>
                    <a:lstStyle/>
                    <a:p>
                      <a:pPr indent="0" marL="0">
                        <a:buNone/>
                      </a:pPr>
                      <a:r>
                        <a:rPr lang="en-US" sz="1100" b="1" dirty="0">
                          <a:solidFill>
                            <a:schemeClr val="tx1"/>
                          </a:solidFill>
                        </a:rPr>
                        <a:t>Amazon India</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Marketplace + Amazon Now dark stores</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Amazon.com</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10 min (Now); same day to 2 days</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Amazon Now: ~7 lakh orders/day, 750+ centres, 60+ cities</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~4.4–4.6★</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r>
              <a:tr h="384048">
                <a:tc>
                  <a:txBody>
                    <a:bodyPr/>
                    <a:lstStyle/>
                    <a:p>
                      <a:pPr indent="0" marL="0">
                        <a:buNone/>
                      </a:pPr>
                      <a:r>
                        <a:rPr lang="en-US" sz="1100" b="1" dirty="0">
                          <a:solidFill>
                            <a:schemeClr val="tx1"/>
                          </a:solidFill>
                        </a:rPr>
                        <a:t>Flipkart</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Marketplace</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Walmart</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1–5 days; same day in metros</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FY25 revenue ₹82,787 Cr</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~4.3–4.6★</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r>
              <a:tr h="384048">
                <a:tc>
                  <a:txBody>
                    <a:bodyPr/>
                    <a:lstStyle/>
                    <a:p>
                      <a:pPr indent="0" marL="0">
                        <a:buNone/>
                      </a:pPr>
                      <a:r>
                        <a:rPr lang="en-US" sz="1100" b="1" dirty="0">
                          <a:solidFill>
                            <a:schemeClr val="tx1"/>
                          </a:solidFill>
                        </a:rPr>
                        <a:t>Flipkart Minutes</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Dark stores (tab in Flipkart app)</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Walmart</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10–15 min</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1,000 stores, 130+ cities</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In Flipkart app</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r>
              <a:tr h="384048">
                <a:tc>
                  <a:txBody>
                    <a:bodyPr/>
                    <a:lstStyle/>
                    <a:p>
                      <a:pPr indent="0" marL="0">
                        <a:buNone/>
                      </a:pPr>
                      <a:r>
                        <a:rPr lang="en-US" sz="1100" b="1" dirty="0">
                          <a:solidFill>
                            <a:schemeClr val="tx1"/>
                          </a:solidFill>
                        </a:rPr>
                        <a:t>Meesho</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Zero-commission marketplace</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Listed (Dec 2025)</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3–7 days</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274M annual users; Q1 FY27 NMV ₹11,614 Cr</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~4.2–4.6★</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r>
              <a:tr h="384048">
                <a:tc>
                  <a:txBody>
                    <a:bodyPr/>
                    <a:lstStyle/>
                    <a:p>
                      <a:pPr indent="0" marL="0">
                        <a:buNone/>
                      </a:pPr>
                      <a:r>
                        <a:rPr lang="en-US" sz="1100" b="1" dirty="0">
                          <a:solidFill>
                            <a:schemeClr val="tx1"/>
                          </a:solidFill>
                        </a:rPr>
                        <a:t>BigBasket</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Inventory + dark stores; BB Daily</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Tata Digital</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10–30 min; BB Daily by 8 AM</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FY26 revenue ₹8,223 Cr; 700+ dark stores</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~4.4★</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r>
              <a:tr h="384048">
                <a:tc>
                  <a:txBody>
                    <a:bodyPr/>
                    <a:lstStyle/>
                    <a:p>
                      <a:pPr indent="0" marL="0">
                        <a:buNone/>
                      </a:pPr>
                      <a:r>
                        <a:rPr lang="en-US" sz="1100" b="1" dirty="0">
                          <a:solidFill>
                            <a:schemeClr val="tx1"/>
                          </a:solidFill>
                        </a:rPr>
                        <a:t>Blinkit</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Inventory-led dark stores</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Eternal (Zomato)</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10 min</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Q1 FY27 NOV ₹17,132 Cr; 2,443 stores</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~4.3★</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r>
              <a:tr h="384048">
                <a:tc>
                  <a:txBody>
                    <a:bodyPr/>
                    <a:lstStyle/>
                    <a:p>
                      <a:pPr indent="0" marL="0">
                        <a:buNone/>
                      </a:pPr>
                      <a:r>
                        <a:rPr lang="en-US" sz="1100" b="1" dirty="0">
                          <a:solidFill>
                            <a:schemeClr val="tx1"/>
                          </a:solidFill>
                        </a:rPr>
                        <a:t>Zepto</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Dark stores</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Independent (IPO filed)</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10 min</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FY26 revenue ₹22,624 Cr; 1,139 stores</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~4.7★</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r>
              <a:tr h="384048">
                <a:tc>
                  <a:txBody>
                    <a:bodyPr/>
                    <a:lstStyle/>
                    <a:p>
                      <a:pPr indent="0" marL="0">
                        <a:buNone/>
                      </a:pPr>
                      <a:r>
                        <a:rPr lang="en-US" sz="1100" b="1" dirty="0">
                          <a:solidFill>
                            <a:schemeClr val="tx1"/>
                          </a:solidFill>
                        </a:rPr>
                        <a:t>Swiggy Instamart</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Dark stores</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Swiggy Ltd</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10–15 min</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Q1 FY27 GOV ₹7,907 Cr; 1,171 stores</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~4.5★</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r>
              <a:tr h="384048">
                <a:tc>
                  <a:txBody>
                    <a:bodyPr/>
                    <a:lstStyle/>
                    <a:p>
                      <a:pPr indent="0" marL="0">
                        <a:buNone/>
                      </a:pPr>
                      <a:r>
                        <a:rPr lang="en-US" sz="1100" b="1" dirty="0">
                          <a:solidFill>
                            <a:schemeClr val="tx1"/>
                          </a:solidFill>
                        </a:rPr>
                        <a:t>JioMart</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Hybrid: stores, kiranas, dark stores</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Reliance Retail</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~30 min hyperlocal</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1.6M orders/day; 1,000+ cities</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~4.2–4.3★</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r>
              <a:tr h="384048">
                <a:tc>
                  <a:txBody>
                    <a:bodyPr/>
                    <a:lstStyle/>
                    <a:p>
                      <a:pPr indent="0" marL="0">
                        <a:buNone/>
                      </a:pPr>
                      <a:r>
                        <a:rPr lang="en-US" sz="1100" b="1" dirty="0">
                          <a:solidFill>
                            <a:schemeClr val="tx1"/>
                          </a:solidFill>
                        </a:rPr>
                        <a:t>Country Delight</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D2C own-brand subscription</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VC-backed (IPO planned)</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Morning, by 7:30 AM</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FY24 revenue ₹1,380 Cr; 15–18 cities</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Not verified</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r>
              <a:tr h="384048">
                <a:tc>
                  <a:txBody>
                    <a:bodyPr/>
                    <a:lstStyle/>
                    <a:p>
                      <a:pPr indent="0" marL="0">
                        <a:buNone/>
                      </a:pPr>
                      <a:r>
                        <a:rPr lang="en-US" sz="1100" b="1" dirty="0">
                          <a:solidFill>
                            <a:schemeClr val="tx2"/>
                          </a:solidFill>
                        </a:rPr>
                        <a:t>GoKesari</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DE3C8"/>
                    </a:solidFill>
                  </a:tcPr>
                </a:tc>
                <a:tc>
                  <a:txBody>
                    <a:bodyPr/>
                    <a:lstStyle/>
                    <a:p>
                      <a:pPr indent="0" marL="0">
                        <a:buNone/>
                      </a:pPr>
                      <a:r>
                        <a:rPr lang="en-US" sz="1100" b="1" dirty="0">
                          <a:solidFill>
                            <a:schemeClr val="tx2"/>
                          </a:solidFill>
                        </a:rPr>
                        <a:t>Hyperlocal marketplace of local shops</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DE3C8"/>
                    </a:solidFill>
                  </a:tcPr>
                </a:tc>
                <a:tc>
                  <a:txBody>
                    <a:bodyPr/>
                    <a:lstStyle/>
                    <a:p>
                      <a:pPr indent="0" marL="0">
                        <a:buNone/>
                      </a:pPr>
                      <a:r>
                        <a:rPr lang="en-US" sz="1100" b="1" dirty="0">
                          <a:solidFill>
                            <a:schemeClr val="tx2"/>
                          </a:solidFill>
                        </a:rPr>
                        <a:t>Independent</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DE3C8"/>
                    </a:solidFill>
                  </a:tcPr>
                </a:tc>
                <a:tc>
                  <a:txBody>
                    <a:bodyPr/>
                    <a:lstStyle/>
                    <a:p>
                      <a:pPr indent="0" marL="0">
                        <a:buNone/>
                      </a:pPr>
                      <a:r>
                        <a:rPr lang="en-US" sz="1100" b="1" dirty="0">
                          <a:solidFill>
                            <a:schemeClr val="tx2"/>
                          </a:solidFill>
                        </a:rPr>
                        <a:t>Same day / chosen slot; next-morning subscriptions</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DE3C8"/>
                    </a:solidFill>
                  </a:tcPr>
                </a:tc>
                <a:tc>
                  <a:txBody>
                    <a:bodyPr/>
                    <a:lstStyle/>
                    <a:p>
                      <a:pPr indent="0" marL="0">
                        <a:buNone/>
                      </a:pPr>
                      <a:r>
                        <a:rPr lang="en-US" sz="1100" b="1" dirty="0">
                          <a:solidFill>
                            <a:schemeClr val="tx2"/>
                          </a:solidFill>
                        </a:rPr>
                        <a:t>Pune launch; 45 shop types supported</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DE3C8"/>
                    </a:solidFill>
                  </a:tcPr>
                </a:tc>
                <a:tc>
                  <a:txBody>
                    <a:bodyPr/>
                    <a:lstStyle/>
                    <a:p>
                      <a:pPr indent="0" marL="0">
                        <a:buNone/>
                      </a:pPr>
                      <a:r>
                        <a:rPr lang="en-US" sz="1100" b="1" dirty="0">
                          <a:solidFill>
                            <a:schemeClr val="tx2"/>
                          </a:solidFill>
                        </a:rPr>
                        <a:t>No public rating yet</a:t>
                      </a:r>
                      <a:endParaRPr lang="en-US" sz="1100" dirty="0"/>
                    </a:p>
                  </a:txBody>
                  <a:tcPr marL="54864" marR="54864" marT="27432" marB="27432"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DE3C8"/>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Customer features: GoKesari covers what shoppers lack</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2514600"/>
                <a:gridCol w="777240"/>
                <a:gridCol w="777240"/>
                <a:gridCol w="777240"/>
                <a:gridCol w="777240"/>
                <a:gridCol w="777240"/>
                <a:gridCol w="777240"/>
                <a:gridCol w="777240"/>
                <a:gridCol w="777240"/>
                <a:gridCol w="777240"/>
                <a:gridCol w="777240"/>
                <a:gridCol w="777240"/>
              </a:tblGrid>
              <a:tr h="502920">
                <a:tc>
                  <a:txBody>
                    <a:bodyPr/>
                    <a:lstStyle/>
                    <a:p>
                      <a:pPr algn="l" indent="0" marL="0">
                        <a:buNone/>
                      </a:pPr>
                      <a:r>
                        <a:rPr lang="en-US" sz="1100" b="1" dirty="0">
                          <a:solidFill>
                            <a:schemeClr val="bg1"/>
                          </a:solidFill>
                        </a:rPr>
                        <a:t>Feature</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Amazon</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Flipkart</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FK Minutes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Meesho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BigBasket</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Blinkit</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Zepto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Instamart</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JioMart</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Country Delight</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GoKesari</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accent1"/>
                    </a:solidFill>
                  </a:tcPr>
                </a:tc>
              </a:tr>
              <a:tr h="384048">
                <a:tc>
                  <a:txBody>
                    <a:bodyPr/>
                    <a:lstStyle/>
                    <a:p>
                      <a:pPr algn="l" indent="0" marL="0">
                        <a:buNone/>
                      </a:pPr>
                      <a:r>
                        <a:rPr lang="en-US" sz="1100" b="1" dirty="0">
                          <a:solidFill>
                            <a:schemeClr val="tx2"/>
                          </a:solidFill>
                        </a:rPr>
                        <a:t>10–15 minute delivery</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7A4A00"/>
                          </a:solidFill>
                        </a:rPr>
                        <a:t>Partial</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7C2"/>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7A4A00"/>
                          </a:solidFill>
                        </a:rPr>
                        <a:t>Partial</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7C2"/>
                    </a:solidFill>
                  </a:tcPr>
                </a:tc>
                <a:tc>
                  <a:txBody>
                    <a:bodyPr/>
                    <a:lstStyle/>
                    <a:p>
                      <a:pPr algn="ctr" indent="0" marL="0">
                        <a:buNone/>
                      </a:pPr>
                      <a:r>
                        <a:rPr lang="en-US" sz="1100" dirty="0">
                          <a:solidFill>
                            <a:srgbClr val="7A4A00"/>
                          </a:solidFill>
                        </a:rPr>
                        <a:t>Partial</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7C2"/>
                    </a:solidFill>
                  </a:tcPr>
                </a:tc>
                <a:tc>
                  <a:txBody>
                    <a:bodyPr/>
                    <a:lstStyle/>
                    <a:p>
                      <a:pPr algn="ctr" indent="0" marL="0">
                        <a:buNone/>
                      </a:pPr>
                      <a:r>
                        <a:rPr lang="en-US" sz="1100" b="1"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r>
              <a:tr h="384048">
                <a:tc>
                  <a:txBody>
                    <a:bodyPr/>
                    <a:lstStyle/>
                    <a:p>
                      <a:pPr algn="l" indent="0" marL="0">
                        <a:buNone/>
                      </a:pPr>
                      <a:r>
                        <a:rPr lang="en-US" sz="1100" b="1" dirty="0">
                          <a:solidFill>
                            <a:schemeClr val="tx2"/>
                          </a:solidFill>
                        </a:rPr>
                        <a:t>Daily milk subscription</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9E9E9E"/>
                          </a:solidFill>
                        </a:rPr>
                        <a:t>n/v</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b="1"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r>
              <a:tr h="384048">
                <a:tc>
                  <a:txBody>
                    <a:bodyPr/>
                    <a:lstStyle/>
                    <a:p>
                      <a:pPr algn="l" indent="0" marL="0">
                        <a:buNone/>
                      </a:pPr>
                      <a:r>
                        <a:rPr lang="en-US" sz="1100" b="1" dirty="0">
                          <a:solidFill>
                            <a:schemeClr val="tx2"/>
                          </a:solidFill>
                        </a:rPr>
                        <a:t>Per-day skip / pause / quantity change</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9E9E9E"/>
                          </a:solidFill>
                        </a:rPr>
                        <a:t>n/v</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b="1"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r>
              <a:tr h="384048">
                <a:tc>
                  <a:txBody>
                    <a:bodyPr/>
                    <a:lstStyle/>
                    <a:p>
                      <a:pPr algn="l" indent="0" marL="0">
                        <a:buNone/>
                      </a:pPr>
                      <a:r>
                        <a:rPr lang="en-US" sz="1100" b="1" dirty="0">
                          <a:solidFill>
                            <a:schemeClr val="tx2"/>
                          </a:solidFill>
                        </a:rPr>
                        <a:t>Prepaid wallet</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7A4A00"/>
                          </a:solidFill>
                        </a:rPr>
                        <a:t>Partial</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7C2"/>
                    </a:solidFill>
                  </a:tcPr>
                </a:tc>
                <a:tc>
                  <a:txBody>
                    <a:bodyPr/>
                    <a:lstStyle/>
                    <a:p>
                      <a:pPr algn="ctr" indent="0" marL="0">
                        <a:buNone/>
                      </a:pPr>
                      <a:r>
                        <a:rPr lang="en-US" sz="1100" dirty="0">
                          <a:solidFill>
                            <a:srgbClr val="7A4A00"/>
                          </a:solidFill>
                        </a:rPr>
                        <a:t>Partial</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7C2"/>
                    </a:solidFill>
                  </a:tcPr>
                </a:tc>
                <a:tc>
                  <a:txBody>
                    <a:bodyPr/>
                    <a:lstStyle/>
                    <a:p>
                      <a:pPr algn="ctr" indent="0" marL="0">
                        <a:buNone/>
                      </a:pPr>
                      <a:r>
                        <a:rPr lang="en-US" sz="1100" dirty="0">
                          <a:solidFill>
                            <a:srgbClr val="9E9E9E"/>
                          </a:solidFill>
                        </a:rPr>
                        <a:t>n/v</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7A4A00"/>
                          </a:solidFill>
                        </a:rPr>
                        <a:t>Partial</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7C2"/>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9E9E9E"/>
                          </a:solidFill>
                        </a:rPr>
                        <a:t>n/v</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9E9E9E"/>
                          </a:solidFill>
                        </a:rPr>
                        <a:t>n/v</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b="1"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r>
              <a:tr h="384048">
                <a:tc>
                  <a:txBody>
                    <a:bodyPr/>
                    <a:lstStyle/>
                    <a:p>
                      <a:pPr algn="l" indent="0" marL="0">
                        <a:buNone/>
                      </a:pPr>
                      <a:r>
                        <a:rPr lang="en-US" sz="1100" b="1" dirty="0">
                          <a:solidFill>
                            <a:schemeClr val="tx2"/>
                          </a:solidFill>
                        </a:rPr>
                        <a:t>Cash on delivery</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7A4A00"/>
                          </a:solidFill>
                        </a:rPr>
                        <a:t>Partial</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7C2"/>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9E9E9E"/>
                          </a:solidFill>
                        </a:rPr>
                        <a:t>n/v</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r>
              <a:tr h="384048">
                <a:tc>
                  <a:txBody>
                    <a:bodyPr/>
                    <a:lstStyle/>
                    <a:p>
                      <a:pPr algn="l" indent="0" marL="0">
                        <a:buNone/>
                      </a:pPr>
                      <a:r>
                        <a:rPr lang="en-US" sz="1100" b="1" dirty="0">
                          <a:solidFill>
                            <a:schemeClr val="tx2"/>
                          </a:solidFill>
                        </a:rPr>
                        <a:t>Fresh dairy &amp; bakery</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7A4A00"/>
                          </a:solidFill>
                        </a:rPr>
                        <a:t>Partial</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7C2"/>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b="1"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r>
              <a:tr h="384048">
                <a:tc>
                  <a:txBody>
                    <a:bodyPr/>
                    <a:lstStyle/>
                    <a:p>
                      <a:pPr algn="l" indent="0" marL="0">
                        <a:buNone/>
                      </a:pPr>
                      <a:r>
                        <a:rPr lang="en-US" sz="1100" b="1" dirty="0">
                          <a:solidFill>
                            <a:schemeClr val="tx2"/>
                          </a:solidFill>
                        </a:rPr>
                        <a:t>No platform / handling / small-cart fee</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9E9E9E"/>
                          </a:solidFill>
                        </a:rPr>
                        <a:t>n/v</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9E9E9E"/>
                          </a:solidFill>
                        </a:rPr>
                        <a:t>n/v</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9E9E9E"/>
                          </a:solidFill>
                        </a:rPr>
                        <a:t>n/v</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7A4A00"/>
                          </a:solidFill>
                        </a:rPr>
                        <a:t>Partial</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7C2"/>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9E9E9E"/>
                          </a:solidFill>
                        </a:rPr>
                        <a:t>n/v</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9E9E9E"/>
                          </a:solidFill>
                        </a:rPr>
                        <a:t>n/v</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r>
              <a:tr h="384048">
                <a:tc>
                  <a:txBody>
                    <a:bodyPr/>
                    <a:lstStyle/>
                    <a:p>
                      <a:pPr algn="l" indent="0" marL="0">
                        <a:buNone/>
                      </a:pPr>
                      <a:r>
                        <a:rPr lang="en-US" sz="1100" b="1" dirty="0">
                          <a:solidFill>
                            <a:schemeClr val="tx2"/>
                          </a:solidFill>
                        </a:rPr>
                        <a:t>Customer chooses the nearby local shop</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dirty="0">
                          <a:solidFill>
                            <a:srgbClr val="7A4A00"/>
                          </a:solidFill>
                        </a:rPr>
                        <a:t>Partial</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7C2"/>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7A4A00"/>
                          </a:solidFill>
                        </a:rPr>
                        <a:t>Partial</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7C2"/>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b="1"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r>
              <a:tr h="384048">
                <a:tc>
                  <a:txBody>
                    <a:bodyPr/>
                    <a:lstStyle/>
                    <a:p>
                      <a:pPr algn="l" indent="0" marL="0">
                        <a:buNone/>
                      </a:pPr>
                      <a:r>
                        <a:rPr lang="en-US" sz="1100" b="1" dirty="0">
                          <a:solidFill>
                            <a:schemeClr val="tx2"/>
                          </a:solidFill>
                        </a:rPr>
                        <a:t>Compare one product's price across sellers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dirty="0">
                          <a:solidFill>
                            <a:srgbClr val="7A4A00"/>
                          </a:solidFill>
                        </a:rPr>
                        <a:t>Partial</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7C2"/>
                    </a:solidFill>
                  </a:tcPr>
                </a:tc>
                <a:tc>
                  <a:txBody>
                    <a:bodyPr/>
                    <a:lstStyle/>
                    <a:p>
                      <a:pPr algn="ctr" indent="0" marL="0">
                        <a:buNone/>
                      </a:pPr>
                      <a:r>
                        <a:rPr lang="en-US" sz="1100" dirty="0">
                          <a:solidFill>
                            <a:srgbClr val="7A4A00"/>
                          </a:solidFill>
                        </a:rPr>
                        <a:t>Partial</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7C2"/>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b="1"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r>
              <a:tr h="384048">
                <a:tc>
                  <a:txBody>
                    <a:bodyPr/>
                    <a:lstStyle/>
                    <a:p>
                      <a:pPr algn="l" indent="0" marL="0">
                        <a:buNone/>
                      </a:pPr>
                      <a:r>
                        <a:rPr lang="en-US" sz="1100" b="1" dirty="0">
                          <a:solidFill>
                            <a:schemeClr val="tx2"/>
                          </a:solidFill>
                        </a:rPr>
                        <a:t>Membership / loyalty programme</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b="1" dirty="0">
                          <a:solidFill>
                            <a:srgbClr val="7A4A00"/>
                          </a:solidFill>
                        </a:rPr>
                        <a:t>Partial</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7C2"/>
                    </a:solidFill>
                  </a:tcPr>
                </a:tc>
              </a:tr>
              <a:tr h="384048">
                <a:tc>
                  <a:txBody>
                    <a:bodyPr/>
                    <a:lstStyle/>
                    <a:p>
                      <a:pPr algn="l" indent="0" marL="0">
                        <a:buNone/>
                      </a:pPr>
                      <a:r>
                        <a:rPr lang="en-US" sz="1100" b="1" dirty="0">
                          <a:solidFill>
                            <a:schemeClr val="tx2"/>
                          </a:solidFill>
                        </a:rPr>
                        <a:t>Regional languages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7A4A00"/>
                          </a:solidFill>
                        </a:rPr>
                        <a:t>Partial</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7C2"/>
                    </a:solidFill>
                  </a:tcPr>
                </a:tc>
                <a:tc>
                  <a:txBody>
                    <a:bodyPr/>
                    <a:lstStyle/>
                    <a:p>
                      <a:pPr algn="ctr" indent="0" marL="0">
                        <a:buNone/>
                      </a:pPr>
                      <a:r>
                        <a:rPr lang="en-US" sz="1100" dirty="0">
                          <a:solidFill>
                            <a:srgbClr val="7A4A00"/>
                          </a:solidFill>
                        </a:rPr>
                        <a:t>Partial</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7C2"/>
                    </a:solidFill>
                  </a:tcPr>
                </a:tc>
                <a:tc>
                  <a:txBody>
                    <a:bodyPr/>
                    <a:lstStyle/>
                    <a:p>
                      <a:pPr algn="ctr" indent="0" marL="0">
                        <a:buNone/>
                      </a:pPr>
                      <a:r>
                        <a:rPr lang="en-US" sz="1100" dirty="0">
                          <a:solidFill>
                            <a:srgbClr val="7A4A00"/>
                          </a:solidFill>
                        </a:rPr>
                        <a:t>Partial</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7C2"/>
                    </a:solidFill>
                  </a:tcPr>
                </a:tc>
                <a:tc>
                  <a:txBody>
                    <a:bodyPr/>
                    <a:lstStyle/>
                    <a:p>
                      <a:pPr algn="ctr" indent="0" marL="0">
                        <a:buNone/>
                      </a:pPr>
                      <a:r>
                        <a:rPr lang="en-US" sz="1100" dirty="0">
                          <a:solidFill>
                            <a:srgbClr val="7A4A00"/>
                          </a:solidFill>
                        </a:rPr>
                        <a:t>Partial</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7C2"/>
                    </a:solidFill>
                  </a:tcPr>
                </a:tc>
                <a:tc>
                  <a:txBody>
                    <a:bodyPr/>
                    <a:lstStyle/>
                    <a:p>
                      <a:pPr algn="ctr" indent="0" marL="0">
                        <a:buNone/>
                      </a:pPr>
                      <a:r>
                        <a:rPr lang="en-US" sz="1100" dirty="0">
                          <a:solidFill>
                            <a:srgbClr val="7A4A00"/>
                          </a:solidFill>
                        </a:rPr>
                        <a:t>Partial</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7C2"/>
                    </a:solidFill>
                  </a:tcPr>
                </a:tc>
                <a:tc>
                  <a:txBody>
                    <a:bodyPr/>
                    <a:lstStyle/>
                    <a:p>
                      <a:pPr algn="ctr" indent="0" marL="0">
                        <a:buNone/>
                      </a:pPr>
                      <a:r>
                        <a:rPr lang="en-US" sz="1100" dirty="0">
                          <a:solidFill>
                            <a:srgbClr val="9E9E9E"/>
                          </a:solidFill>
                        </a:rPr>
                        <a:t>n/v</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r>
            </a:tbl>
          </a:graphicData>
        </a:graphic>
      </p:graphicFrame>
      <p:sp>
        <p:nvSpPr>
          <p:cNvPr id="5" name="Shape 1"/>
          <p:cNvSpPr/>
          <p:nvPr/>
        </p:nvSpPr>
        <p:spPr>
          <a:xfrm>
            <a:off x="548640" y="6025896"/>
            <a:ext cx="201168" cy="201168"/>
          </a:xfrm>
          <a:prstGeom prst="roundRect">
            <a:avLst>
              <a:gd name="adj" fmla="val 18182"/>
            </a:avLst>
          </a:prstGeom>
          <a:solidFill>
            <a:srgbClr val="D6EFD8"/>
          </a:solidFill>
          <a:ln w="6350">
            <a:solidFill>
              <a:srgbClr val="BDBDBD"/>
            </a:solidFill>
            <a:prstDash val="solid"/>
          </a:ln>
        </p:spPr>
      </p:sp>
      <p:sp>
        <p:nvSpPr>
          <p:cNvPr id="6" name="Text 2"/>
          <p:cNvSpPr txBox="1"/>
          <p:nvPr/>
        </p:nvSpPr>
        <p:spPr>
          <a:xfrm>
            <a:off x="822960" y="5989320"/>
            <a:ext cx="822960" cy="274320"/>
          </a:xfrm>
          <a:prstGeom prst="rect">
            <a:avLst/>
          </a:prstGeom>
          <a:noFill/>
          <a:ln/>
        </p:spPr>
        <p:txBody>
          <a:bodyPr wrap="square" lIns="0" tIns="0" rIns="0" bIns="0" rtlCol="0" anchor="ctr"/>
          <a:lstStyle/>
          <a:p>
            <a:pPr indent="0" marL="0">
              <a:buNone/>
            </a:pPr>
            <a:r>
              <a:rPr lang="en-US" sz="1000" dirty="0">
                <a:solidFill>
                  <a:schemeClr val="accent4"/>
                </a:solidFill>
              </a:rPr>
              <a:t>Yes</a:t>
            </a:r>
            <a:endParaRPr lang="en-US" sz="1000" dirty="0"/>
          </a:p>
        </p:txBody>
      </p:sp>
      <p:sp>
        <p:nvSpPr>
          <p:cNvPr id="7" name="Shape 3"/>
          <p:cNvSpPr/>
          <p:nvPr/>
        </p:nvSpPr>
        <p:spPr>
          <a:xfrm>
            <a:off x="1600200" y="6025896"/>
            <a:ext cx="201168" cy="201168"/>
          </a:xfrm>
          <a:prstGeom prst="roundRect">
            <a:avLst>
              <a:gd name="adj" fmla="val 18182"/>
            </a:avLst>
          </a:prstGeom>
          <a:solidFill>
            <a:srgbClr val="FDE7C2"/>
          </a:solidFill>
          <a:ln w="6350">
            <a:solidFill>
              <a:srgbClr val="BDBDBD"/>
            </a:solidFill>
            <a:prstDash val="solid"/>
          </a:ln>
        </p:spPr>
      </p:sp>
      <p:sp>
        <p:nvSpPr>
          <p:cNvPr id="8" name="Text 4"/>
          <p:cNvSpPr txBox="1"/>
          <p:nvPr/>
        </p:nvSpPr>
        <p:spPr>
          <a:xfrm>
            <a:off x="1874520" y="5989320"/>
            <a:ext cx="822960" cy="274320"/>
          </a:xfrm>
          <a:prstGeom prst="rect">
            <a:avLst/>
          </a:prstGeom>
          <a:noFill/>
          <a:ln/>
        </p:spPr>
        <p:txBody>
          <a:bodyPr wrap="square" lIns="0" tIns="0" rIns="0" bIns="0" rtlCol="0" anchor="ctr"/>
          <a:lstStyle/>
          <a:p>
            <a:pPr indent="0" marL="0">
              <a:buNone/>
            </a:pPr>
            <a:r>
              <a:rPr lang="en-US" sz="1000" dirty="0">
                <a:solidFill>
                  <a:schemeClr val="accent4"/>
                </a:solidFill>
              </a:rPr>
              <a:t>Partial</a:t>
            </a:r>
            <a:endParaRPr lang="en-US" sz="1000" dirty="0"/>
          </a:p>
        </p:txBody>
      </p:sp>
      <p:sp>
        <p:nvSpPr>
          <p:cNvPr id="9" name="Shape 5"/>
          <p:cNvSpPr/>
          <p:nvPr/>
        </p:nvSpPr>
        <p:spPr>
          <a:xfrm>
            <a:off x="2651760" y="6025896"/>
            <a:ext cx="201168" cy="201168"/>
          </a:xfrm>
          <a:prstGeom prst="roundRect">
            <a:avLst>
              <a:gd name="adj" fmla="val 18182"/>
            </a:avLst>
          </a:prstGeom>
          <a:solidFill>
            <a:srgbClr val="EEEEEE"/>
          </a:solidFill>
          <a:ln w="6350">
            <a:solidFill>
              <a:srgbClr val="BDBDBD"/>
            </a:solidFill>
            <a:prstDash val="solid"/>
          </a:ln>
        </p:spPr>
      </p:sp>
      <p:sp>
        <p:nvSpPr>
          <p:cNvPr id="10" name="Text 6"/>
          <p:cNvSpPr txBox="1"/>
          <p:nvPr/>
        </p:nvSpPr>
        <p:spPr>
          <a:xfrm>
            <a:off x="2926080" y="5989320"/>
            <a:ext cx="822960" cy="274320"/>
          </a:xfrm>
          <a:prstGeom prst="rect">
            <a:avLst/>
          </a:prstGeom>
          <a:noFill/>
          <a:ln/>
        </p:spPr>
        <p:txBody>
          <a:bodyPr wrap="square" lIns="0" tIns="0" rIns="0" bIns="0" rtlCol="0" anchor="ctr"/>
          <a:lstStyle/>
          <a:p>
            <a:pPr indent="0" marL="0">
              <a:buNone/>
            </a:pPr>
            <a:r>
              <a:rPr lang="en-US" sz="1000" dirty="0">
                <a:solidFill>
                  <a:schemeClr val="accent4"/>
                </a:solidFill>
              </a:rPr>
              <a:t>No</a:t>
            </a:r>
            <a:endParaRPr lang="en-US" sz="1000" dirty="0"/>
          </a:p>
        </p:txBody>
      </p:sp>
      <p:sp>
        <p:nvSpPr>
          <p:cNvPr id="11" name="Shape 7"/>
          <p:cNvSpPr/>
          <p:nvPr/>
        </p:nvSpPr>
        <p:spPr>
          <a:xfrm>
            <a:off x="3703320" y="6025896"/>
            <a:ext cx="201168" cy="201168"/>
          </a:xfrm>
          <a:prstGeom prst="roundRect">
            <a:avLst>
              <a:gd name="adj" fmla="val 18182"/>
            </a:avLst>
          </a:prstGeom>
          <a:solidFill>
            <a:srgbClr val="FFFFFF"/>
          </a:solidFill>
          <a:ln w="6350">
            <a:solidFill>
              <a:srgbClr val="BDBDBD"/>
            </a:solidFill>
            <a:prstDash val="solid"/>
          </a:ln>
        </p:spPr>
      </p:sp>
      <p:sp>
        <p:nvSpPr>
          <p:cNvPr id="12" name="Text 8"/>
          <p:cNvSpPr txBox="1"/>
          <p:nvPr/>
        </p:nvSpPr>
        <p:spPr>
          <a:xfrm>
            <a:off x="3977640" y="5989320"/>
            <a:ext cx="3108960" cy="274320"/>
          </a:xfrm>
          <a:prstGeom prst="rect">
            <a:avLst/>
          </a:prstGeom>
          <a:noFill/>
          <a:ln/>
        </p:spPr>
        <p:txBody>
          <a:bodyPr wrap="square" lIns="0" tIns="0" rIns="0" bIns="0" rtlCol="0" anchor="ctr"/>
          <a:lstStyle/>
          <a:p>
            <a:pPr indent="0" marL="0">
              <a:buNone/>
            </a:pPr>
            <a:r>
              <a:rPr lang="en-US" sz="1000" dirty="0">
                <a:solidFill>
                  <a:schemeClr val="accent4"/>
                </a:solidFill>
              </a:rPr>
              <a:t>n/v = not verified from public sources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Seller &amp; trust features: built for the local shop</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2514600"/>
                <a:gridCol w="777240"/>
                <a:gridCol w="777240"/>
                <a:gridCol w="777240"/>
                <a:gridCol w="777240"/>
                <a:gridCol w="777240"/>
                <a:gridCol w="777240"/>
                <a:gridCol w="777240"/>
                <a:gridCol w="777240"/>
                <a:gridCol w="777240"/>
                <a:gridCol w="777240"/>
                <a:gridCol w="777240"/>
              </a:tblGrid>
              <a:tr h="502920">
                <a:tc>
                  <a:txBody>
                    <a:bodyPr/>
                    <a:lstStyle/>
                    <a:p>
                      <a:pPr algn="l" indent="0" marL="0">
                        <a:buNone/>
                      </a:pPr>
                      <a:r>
                        <a:rPr lang="en-US" sz="1100" b="1" dirty="0">
                          <a:solidFill>
                            <a:schemeClr val="bg1"/>
                          </a:solidFill>
                        </a:rPr>
                        <a:t>Feature</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Amazon</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Flipkart</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FK Minutes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Meesho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BigBasket</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Blinkit</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Zepto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Instamart</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JioMart</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Country Delight</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GoKesari</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accent1"/>
                    </a:solidFill>
                  </a:tcPr>
                </a:tc>
              </a:tr>
              <a:tr h="384048">
                <a:tc>
                  <a:txBody>
                    <a:bodyPr/>
                    <a:lstStyle/>
                    <a:p>
                      <a:pPr algn="l" indent="0" marL="0">
                        <a:buNone/>
                      </a:pPr>
                      <a:r>
                        <a:rPr lang="en-US" sz="1100" b="1" dirty="0">
                          <a:solidFill>
                            <a:schemeClr val="tx2"/>
                          </a:solidFill>
                        </a:rPr>
                        <a:t>Independent local shops can sell</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7A4A00"/>
                          </a:solidFill>
                        </a:rPr>
                        <a:t>Partial</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7C2"/>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7A4A00"/>
                          </a:solidFill>
                        </a:rPr>
                        <a:t>Partial</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7C2"/>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7A4A00"/>
                          </a:solidFill>
                        </a:rPr>
                        <a:t>Partial</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7C2"/>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b="1"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r>
              <a:tr h="384048">
                <a:tc>
                  <a:txBody>
                    <a:bodyPr/>
                    <a:lstStyle/>
                    <a:p>
                      <a:pPr algn="l" indent="0" marL="0">
                        <a:buNone/>
                      </a:pPr>
                      <a:r>
                        <a:rPr lang="en-US" sz="1100" b="1" dirty="0">
                          <a:solidFill>
                            <a:schemeClr val="tx2"/>
                          </a:solidFill>
                        </a:rPr>
                        <a:t>Seller commission</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dirty="0">
                          <a:solidFill>
                            <a:schemeClr val="tx1"/>
                          </a:solidFill>
                        </a:rPr>
                        <a:t>Ref. fee</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Ref. fee</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9E9E9E"/>
                          </a:solidFill>
                        </a:rPr>
                        <a:t>n/a</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chemeClr val="tx1"/>
                          </a:solidFill>
                        </a:rPr>
                        <a:t>0%</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9E9E9E"/>
                          </a:solidFill>
                        </a:rPr>
                        <a:t>n/a</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9E9E9E"/>
                          </a:solidFill>
                        </a:rPr>
                        <a:t>n/a</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9E9E9E"/>
                          </a:solidFill>
                        </a:rPr>
                        <a:t>n/a</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9E9E9E"/>
                          </a:solidFill>
                        </a:rPr>
                        <a:t>n/a</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9E9E9E"/>
                          </a:solidFill>
                        </a:rPr>
                        <a:t>n/a</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9E9E9E"/>
                          </a:solidFill>
                        </a:rPr>
                        <a:t>n/a</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B5E20"/>
                          </a:solidFill>
                        </a:rPr>
                        <a:t>1%</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r>
              <a:tr h="384048">
                <a:tc>
                  <a:txBody>
                    <a:bodyPr/>
                    <a:lstStyle/>
                    <a:p>
                      <a:pPr algn="l" indent="0" marL="0">
                        <a:buNone/>
                      </a:pPr>
                      <a:r>
                        <a:rPr lang="en-US" sz="1100" b="1" dirty="0">
                          <a:solidFill>
                            <a:schemeClr val="tx2"/>
                          </a:solidFill>
                        </a:rPr>
                        <a:t>Shop quality grade shown to customers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dirty="0">
                          <a:solidFill>
                            <a:srgbClr val="7A4A00"/>
                          </a:solidFill>
                        </a:rPr>
                        <a:t>Partial</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7C2"/>
                    </a:solidFill>
                  </a:tcPr>
                </a:tc>
                <a:tc>
                  <a:txBody>
                    <a:bodyPr/>
                    <a:lstStyle/>
                    <a:p>
                      <a:pPr algn="ctr" indent="0" marL="0">
                        <a:buNone/>
                      </a:pPr>
                      <a:r>
                        <a:rPr lang="en-US" sz="1100" dirty="0">
                          <a:solidFill>
                            <a:srgbClr val="7A4A00"/>
                          </a:solidFill>
                        </a:rPr>
                        <a:t>Partial</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7C2"/>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7A4A00"/>
                          </a:solidFill>
                        </a:rPr>
                        <a:t>Partial</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7C2"/>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dirty="0">
                          <a:solidFill>
                            <a:srgbClr val="616161"/>
                          </a:solidFill>
                        </a:rPr>
                        <a:t>No</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EEEEE"/>
                    </a:solidFill>
                  </a:tcPr>
                </a:tc>
                <a:tc>
                  <a:txBody>
                    <a:bodyPr/>
                    <a:lstStyle/>
                    <a:p>
                      <a:pPr algn="ctr" indent="0" marL="0">
                        <a:buNone/>
                      </a:pPr>
                      <a:r>
                        <a:rPr lang="en-US" sz="1100" b="1"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r>
              <a:tr h="384048">
                <a:tc>
                  <a:txBody>
                    <a:bodyPr/>
                    <a:lstStyle/>
                    <a:p>
                      <a:pPr algn="l" indent="0" marL="0">
                        <a:buNone/>
                      </a:pPr>
                      <a:r>
                        <a:rPr lang="en-US" sz="1100" b="1" dirty="0">
                          <a:solidFill>
                            <a:schemeClr val="tx2"/>
                          </a:solidFill>
                        </a:rPr>
                        <a:t>Seller KYC &amp; licence checks (PAN, GST, FSSAI)</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9E9E9E"/>
                          </a:solidFill>
                        </a:rPr>
                        <a:t>n/a</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9E9E9E"/>
                          </a:solidFill>
                        </a:rPr>
                        <a:t>n/a</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9E9E9E"/>
                          </a:solidFill>
                        </a:rPr>
                        <a:t>n/a</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9E9E9E"/>
                          </a:solidFill>
                        </a:rPr>
                        <a:t>n/a</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9E9E9E"/>
                          </a:solidFill>
                        </a:rPr>
                        <a:t>n/a</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9E9E9E"/>
                          </a:solidFill>
                        </a:rPr>
                        <a:t>n/a</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9E9E9E"/>
                          </a:solidFill>
                        </a:rPr>
                        <a:t>n/a</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r>
              <a:tr h="384048">
                <a:tc>
                  <a:txBody>
                    <a:bodyPr/>
                    <a:lstStyle/>
                    <a:p>
                      <a:pPr algn="l" indent="0" marL="0">
                        <a:buNone/>
                      </a:pPr>
                      <a:r>
                        <a:rPr lang="en-US" sz="1100" b="1" dirty="0">
                          <a:solidFill>
                            <a:schemeClr val="tx2"/>
                          </a:solidFill>
                        </a:rPr>
                        <a:t>Seller GST, books &amp; accounting-software sync</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dirty="0">
                          <a:solidFill>
                            <a:srgbClr val="7A4A00"/>
                          </a:solidFill>
                        </a:rPr>
                        <a:t>Partial</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7C2"/>
                    </a:solidFill>
                  </a:tcPr>
                </a:tc>
                <a:tc>
                  <a:txBody>
                    <a:bodyPr/>
                    <a:lstStyle/>
                    <a:p>
                      <a:pPr algn="ctr" indent="0" marL="0">
                        <a:buNone/>
                      </a:pPr>
                      <a:r>
                        <a:rPr lang="en-US" sz="1100" dirty="0">
                          <a:solidFill>
                            <a:srgbClr val="7A4A00"/>
                          </a:solidFill>
                        </a:rPr>
                        <a:t>Partial</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7C2"/>
                    </a:solidFill>
                  </a:tcPr>
                </a:tc>
                <a:tc>
                  <a:txBody>
                    <a:bodyPr/>
                    <a:lstStyle/>
                    <a:p>
                      <a:pPr algn="ctr" indent="0" marL="0">
                        <a:buNone/>
                      </a:pPr>
                      <a:r>
                        <a:rPr lang="en-US" sz="1100" dirty="0">
                          <a:solidFill>
                            <a:srgbClr val="9E9E9E"/>
                          </a:solidFill>
                        </a:rPr>
                        <a:t>n/a</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7A4A00"/>
                          </a:solidFill>
                        </a:rPr>
                        <a:t>Partial</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7C2"/>
                    </a:solidFill>
                  </a:tcPr>
                </a:tc>
                <a:tc>
                  <a:txBody>
                    <a:bodyPr/>
                    <a:lstStyle/>
                    <a:p>
                      <a:pPr algn="ctr" indent="0" marL="0">
                        <a:buNone/>
                      </a:pPr>
                      <a:r>
                        <a:rPr lang="en-US" sz="1100" dirty="0">
                          <a:solidFill>
                            <a:srgbClr val="9E9E9E"/>
                          </a:solidFill>
                        </a:rPr>
                        <a:t>n/a</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9E9E9E"/>
                          </a:solidFill>
                        </a:rPr>
                        <a:t>n/a</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9E9E9E"/>
                          </a:solidFill>
                        </a:rPr>
                        <a:t>n/a</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9E9E9E"/>
                          </a:solidFill>
                        </a:rPr>
                        <a:t>n/a</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9E9E9E"/>
                          </a:solidFill>
                        </a:rPr>
                        <a:t>n/a</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9E9E9E"/>
                          </a:solidFill>
                        </a:rPr>
                        <a:t>n/a</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r>
              <a:tr h="384048">
                <a:tc>
                  <a:txBody>
                    <a:bodyPr/>
                    <a:lstStyle/>
                    <a:p>
                      <a:pPr algn="l" indent="0" marL="0">
                        <a:buNone/>
                      </a:pPr>
                      <a:r>
                        <a:rPr lang="en-US" sz="1100" b="1" dirty="0">
                          <a:solidFill>
                            <a:schemeClr val="tx2"/>
                          </a:solidFill>
                        </a:rPr>
                        <a:t>Grievance redressal mechanism</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b="1"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r>
              <a:tr h="384048">
                <a:tc>
                  <a:txBody>
                    <a:bodyPr/>
                    <a:lstStyle/>
                    <a:p>
                      <a:pPr algn="l" indent="0" marL="0">
                        <a:buNone/>
                      </a:pPr>
                      <a:r>
                        <a:rPr lang="en-US" sz="1100" b="1" dirty="0">
                          <a:solidFill>
                            <a:schemeClr val="tx2"/>
                          </a:solidFill>
                        </a:rPr>
                        <a:t>Native Android &amp; iPhone app</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7A4A00"/>
                          </a:solidFill>
                        </a:rPr>
                        <a:t>Partial</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7C2"/>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c>
                  <a:txBody>
                    <a:bodyPr/>
                    <a:lstStyle/>
                    <a:p>
                      <a:pPr algn="ctr" indent="0" marL="0">
                        <a:buNone/>
                      </a:pPr>
                      <a:r>
                        <a:rPr lang="en-US" sz="1100" b="1" dirty="0">
                          <a:solidFill>
                            <a:srgbClr val="1B5E20"/>
                          </a:solidFill>
                        </a:rPr>
                        <a:t>Yes</a:t>
                      </a:r>
                      <a:endParaRPr lang="en-US" sz="1100" dirty="0"/>
                    </a:p>
                  </a:txBody>
                  <a:tcPr marL="45720" marR="45720"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D6EFD8"/>
                    </a:solidFill>
                  </a:tcPr>
                </a:tc>
              </a:tr>
            </a:tbl>
          </a:graphicData>
        </a:graphic>
      </p:graphicFrame>
      <p:sp>
        <p:nvSpPr>
          <p:cNvPr id="5" name="Shape 1"/>
          <p:cNvSpPr/>
          <p:nvPr/>
        </p:nvSpPr>
        <p:spPr>
          <a:xfrm>
            <a:off x="548640" y="4608576"/>
            <a:ext cx="201168" cy="201168"/>
          </a:xfrm>
          <a:prstGeom prst="roundRect">
            <a:avLst>
              <a:gd name="adj" fmla="val 18182"/>
            </a:avLst>
          </a:prstGeom>
          <a:solidFill>
            <a:srgbClr val="D6EFD8"/>
          </a:solidFill>
          <a:ln w="6350">
            <a:solidFill>
              <a:srgbClr val="BDBDBD"/>
            </a:solidFill>
            <a:prstDash val="solid"/>
          </a:ln>
        </p:spPr>
      </p:sp>
      <p:sp>
        <p:nvSpPr>
          <p:cNvPr id="6" name="Text 2"/>
          <p:cNvSpPr txBox="1"/>
          <p:nvPr/>
        </p:nvSpPr>
        <p:spPr>
          <a:xfrm>
            <a:off x="822960" y="4572000"/>
            <a:ext cx="822960" cy="274320"/>
          </a:xfrm>
          <a:prstGeom prst="rect">
            <a:avLst/>
          </a:prstGeom>
          <a:noFill/>
          <a:ln/>
        </p:spPr>
        <p:txBody>
          <a:bodyPr wrap="square" lIns="0" tIns="0" rIns="0" bIns="0" rtlCol="0" anchor="ctr"/>
          <a:lstStyle/>
          <a:p>
            <a:pPr indent="0" marL="0">
              <a:buNone/>
            </a:pPr>
            <a:r>
              <a:rPr lang="en-US" sz="1000" dirty="0">
                <a:solidFill>
                  <a:schemeClr val="accent4"/>
                </a:solidFill>
              </a:rPr>
              <a:t>Yes</a:t>
            </a:r>
            <a:endParaRPr lang="en-US" sz="1000" dirty="0"/>
          </a:p>
        </p:txBody>
      </p:sp>
      <p:sp>
        <p:nvSpPr>
          <p:cNvPr id="7" name="Shape 3"/>
          <p:cNvSpPr/>
          <p:nvPr/>
        </p:nvSpPr>
        <p:spPr>
          <a:xfrm>
            <a:off x="1600200" y="4608576"/>
            <a:ext cx="201168" cy="201168"/>
          </a:xfrm>
          <a:prstGeom prst="roundRect">
            <a:avLst>
              <a:gd name="adj" fmla="val 18182"/>
            </a:avLst>
          </a:prstGeom>
          <a:solidFill>
            <a:srgbClr val="FDE7C2"/>
          </a:solidFill>
          <a:ln w="6350">
            <a:solidFill>
              <a:srgbClr val="BDBDBD"/>
            </a:solidFill>
            <a:prstDash val="solid"/>
          </a:ln>
        </p:spPr>
      </p:sp>
      <p:sp>
        <p:nvSpPr>
          <p:cNvPr id="8" name="Text 4"/>
          <p:cNvSpPr txBox="1"/>
          <p:nvPr/>
        </p:nvSpPr>
        <p:spPr>
          <a:xfrm>
            <a:off x="1874520" y="4572000"/>
            <a:ext cx="822960" cy="274320"/>
          </a:xfrm>
          <a:prstGeom prst="rect">
            <a:avLst/>
          </a:prstGeom>
          <a:noFill/>
          <a:ln/>
        </p:spPr>
        <p:txBody>
          <a:bodyPr wrap="square" lIns="0" tIns="0" rIns="0" bIns="0" rtlCol="0" anchor="ctr"/>
          <a:lstStyle/>
          <a:p>
            <a:pPr indent="0" marL="0">
              <a:buNone/>
            </a:pPr>
            <a:r>
              <a:rPr lang="en-US" sz="1000" dirty="0">
                <a:solidFill>
                  <a:schemeClr val="accent4"/>
                </a:solidFill>
              </a:rPr>
              <a:t>Partial</a:t>
            </a:r>
            <a:endParaRPr lang="en-US" sz="1000" dirty="0"/>
          </a:p>
        </p:txBody>
      </p:sp>
      <p:sp>
        <p:nvSpPr>
          <p:cNvPr id="9" name="Shape 5"/>
          <p:cNvSpPr/>
          <p:nvPr/>
        </p:nvSpPr>
        <p:spPr>
          <a:xfrm>
            <a:off x="2651760" y="4608576"/>
            <a:ext cx="201168" cy="201168"/>
          </a:xfrm>
          <a:prstGeom prst="roundRect">
            <a:avLst>
              <a:gd name="adj" fmla="val 18182"/>
            </a:avLst>
          </a:prstGeom>
          <a:solidFill>
            <a:srgbClr val="EEEEEE"/>
          </a:solidFill>
          <a:ln w="6350">
            <a:solidFill>
              <a:srgbClr val="BDBDBD"/>
            </a:solidFill>
            <a:prstDash val="solid"/>
          </a:ln>
        </p:spPr>
      </p:sp>
      <p:sp>
        <p:nvSpPr>
          <p:cNvPr id="10" name="Text 6"/>
          <p:cNvSpPr txBox="1"/>
          <p:nvPr/>
        </p:nvSpPr>
        <p:spPr>
          <a:xfrm>
            <a:off x="2926080" y="4572000"/>
            <a:ext cx="822960" cy="274320"/>
          </a:xfrm>
          <a:prstGeom prst="rect">
            <a:avLst/>
          </a:prstGeom>
          <a:noFill/>
          <a:ln/>
        </p:spPr>
        <p:txBody>
          <a:bodyPr wrap="square" lIns="0" tIns="0" rIns="0" bIns="0" rtlCol="0" anchor="ctr"/>
          <a:lstStyle/>
          <a:p>
            <a:pPr indent="0" marL="0">
              <a:buNone/>
            </a:pPr>
            <a:r>
              <a:rPr lang="en-US" sz="1000" dirty="0">
                <a:solidFill>
                  <a:schemeClr val="accent4"/>
                </a:solidFill>
              </a:rPr>
              <a:t>No</a:t>
            </a:r>
            <a:endParaRPr lang="en-US" sz="1000" dirty="0"/>
          </a:p>
        </p:txBody>
      </p:sp>
      <p:sp>
        <p:nvSpPr>
          <p:cNvPr id="11" name="Shape 7"/>
          <p:cNvSpPr/>
          <p:nvPr/>
        </p:nvSpPr>
        <p:spPr>
          <a:xfrm>
            <a:off x="3703320" y="4608576"/>
            <a:ext cx="201168" cy="201168"/>
          </a:xfrm>
          <a:prstGeom prst="roundRect">
            <a:avLst>
              <a:gd name="adj" fmla="val 18182"/>
            </a:avLst>
          </a:prstGeom>
          <a:solidFill>
            <a:srgbClr val="FFFFFF"/>
          </a:solidFill>
          <a:ln w="6350">
            <a:solidFill>
              <a:srgbClr val="BDBDBD"/>
            </a:solidFill>
            <a:prstDash val="solid"/>
          </a:ln>
        </p:spPr>
      </p:sp>
      <p:sp>
        <p:nvSpPr>
          <p:cNvPr id="12" name="Text 8"/>
          <p:cNvSpPr txBox="1"/>
          <p:nvPr/>
        </p:nvSpPr>
        <p:spPr>
          <a:xfrm>
            <a:off x="3977640" y="4572000"/>
            <a:ext cx="3108960" cy="274320"/>
          </a:xfrm>
          <a:prstGeom prst="rect">
            <a:avLst/>
          </a:prstGeom>
          <a:noFill/>
          <a:ln/>
        </p:spPr>
        <p:txBody>
          <a:bodyPr wrap="square" lIns="0" tIns="0" rIns="0" bIns="0" rtlCol="0" anchor="ctr"/>
          <a:lstStyle/>
          <a:p>
            <a:pPr indent="0" marL="0">
              <a:buNone/>
            </a:pPr>
            <a:r>
              <a:rPr lang="en-US" sz="1000" dirty="0">
                <a:solidFill>
                  <a:schemeClr val="accent4"/>
                </a:solidFill>
              </a:rPr>
              <a:t>n/v = not verified from public sources</a:t>
            </a:r>
            <a:endParaRPr lang="en-US" sz="1000" dirty="0"/>
          </a:p>
        </p:txBody>
      </p:sp>
      <p:sp>
        <p:nvSpPr>
          <p:cNvPr id="13" name="Shape 9"/>
          <p:cNvSpPr/>
          <p:nvPr/>
        </p:nvSpPr>
        <p:spPr>
          <a:xfrm>
            <a:off x="548640" y="5074920"/>
            <a:ext cx="11064240" cy="1051560"/>
          </a:xfrm>
          <a:prstGeom prst="roundRect">
            <a:avLst>
              <a:gd name="adj" fmla="val 6957"/>
            </a:avLst>
          </a:prstGeom>
          <a:solidFill>
            <a:schemeClr val="bg2"/>
          </a:solidFill>
          <a:ln/>
        </p:spPr>
      </p:sp>
      <p:sp>
        <p:nvSpPr>
          <p:cNvPr id="14" name="Text 10"/>
          <p:cNvSpPr txBox="1"/>
          <p:nvPr/>
        </p:nvSpPr>
        <p:spPr>
          <a:xfrm>
            <a:off x="777240" y="5166360"/>
            <a:ext cx="10607040" cy="868680"/>
          </a:xfrm>
          <a:prstGeom prst="rect">
            <a:avLst/>
          </a:prstGeom>
          <a:noFill/>
          <a:ln/>
        </p:spPr>
        <p:txBody>
          <a:bodyPr wrap="square" lIns="0" tIns="0" rIns="0" bIns="0" rtlCol="0" anchor="ctr"/>
          <a:lstStyle/>
          <a:p>
            <a:pPr indent="0" marL="0">
              <a:buNone/>
            </a:pPr>
            <a:r>
              <a:rPr lang="en-US" sz="1400" b="1" dirty="0">
                <a:solidFill>
                  <a:schemeClr val="accent1"/>
                </a:solidFill>
              </a:rPr>
              <a:t>Only on GoKesari: </a:t>
            </a:r>
            <a:pPr indent="0" marL="0">
              <a:buNone/>
            </a:pPr>
            <a:r>
              <a:rPr lang="en-US" sz="1400" dirty="0">
                <a:solidFill>
                  <a:schemeClr val="tx1"/>
                </a:solidFill>
              </a:rPr>
              <a:t>the shop picks pickup (with a code), its own delivery staff or a GoKesari rider for each order; Tally, Zoho Books, Odoo, myBillBook and Vyapar sync; GSTR-1-ready files; supplier-bill scanning; and gated-society rider and gate controls.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GoKesari rating: best proposition, smallest scale</a:t>
            </a:r>
            <a:endParaRPr lang="en-US" sz="3200" dirty="0"/>
          </a:p>
        </p:txBody>
      </p:sp>
      <p:graphicFrame>
        <p:nvGraphicFramePr>
          <p:cNvPr id="4" name="Chart 0" descr=""/>
          <p:cNvGraphicFramePr/>
          <p:nvPr/>
        </p:nvGraphicFramePr>
        <p:xfrm>
          <a:off x="548640" y="1234440"/>
          <a:ext cx="6949440" cy="502920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7863840" y="1325880"/>
            <a:ext cx="3749040" cy="4846320"/>
          </a:xfrm>
          <a:prstGeom prst="roundRect">
            <a:avLst>
              <a:gd name="adj" fmla="val 1951"/>
            </a:avLst>
          </a:prstGeom>
          <a:solidFill>
            <a:schemeClr val="tx2"/>
          </a:solidFill>
          <a:ln/>
        </p:spPr>
      </p:sp>
      <p:sp>
        <p:nvSpPr>
          <p:cNvPr id="6" name="Text 2"/>
          <p:cNvSpPr txBox="1"/>
          <p:nvPr/>
        </p:nvSpPr>
        <p:spPr>
          <a:xfrm>
            <a:off x="8138160" y="1554480"/>
            <a:ext cx="3200400" cy="411480"/>
          </a:xfrm>
          <a:prstGeom prst="rect">
            <a:avLst/>
          </a:prstGeom>
          <a:noFill/>
          <a:ln/>
        </p:spPr>
        <p:txBody>
          <a:bodyPr wrap="square" lIns="0" tIns="0" rIns="0" bIns="0" rtlCol="0" anchor="t"/>
          <a:lstStyle/>
          <a:p>
            <a:pPr indent="0" marL="0">
              <a:buNone/>
            </a:pPr>
            <a:r>
              <a:rPr lang="en-US" sz="2000" b="1" dirty="0">
                <a:solidFill>
                  <a:schemeClr val="accent3"/>
                </a:solidFill>
                <a:latin typeface="Cambria" pitchFamily="34" charset="0"/>
                <a:ea typeface="Cambria" pitchFamily="34" charset="-122"/>
                <a:cs typeface="Cambria" pitchFamily="34" charset="-120"/>
              </a:rPr>
              <a:t>GoKesari</a:t>
            </a:r>
            <a:endParaRPr lang="en-US" sz="2000" dirty="0"/>
          </a:p>
        </p:txBody>
      </p:sp>
      <p:sp>
        <p:nvSpPr>
          <p:cNvPr id="7" name="Text 3"/>
          <p:cNvSpPr txBox="1"/>
          <p:nvPr/>
        </p:nvSpPr>
        <p:spPr>
          <a:xfrm>
            <a:off x="8138160" y="2148840"/>
            <a:ext cx="1371600" cy="82296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8.2</a:t>
            </a:r>
            <a:endParaRPr lang="en-US" sz="4400" dirty="0"/>
          </a:p>
        </p:txBody>
      </p:sp>
      <p:sp>
        <p:nvSpPr>
          <p:cNvPr id="8" name="Text 4"/>
          <p:cNvSpPr txBox="1"/>
          <p:nvPr/>
        </p:nvSpPr>
        <p:spPr>
          <a:xfrm>
            <a:off x="9281160" y="2496312"/>
            <a:ext cx="548640" cy="365760"/>
          </a:xfrm>
          <a:prstGeom prst="rect">
            <a:avLst/>
          </a:prstGeom>
          <a:noFill/>
          <a:ln/>
        </p:spPr>
        <p:txBody>
          <a:bodyPr wrap="square" lIns="0" tIns="0" rIns="0" bIns="0" rtlCol="0" anchor="t"/>
          <a:lstStyle/>
          <a:p>
            <a:pPr indent="0" marL="0">
              <a:buNone/>
            </a:pPr>
            <a:r>
              <a:rPr lang="en-US" sz="1400" dirty="0">
                <a:solidFill>
                  <a:schemeClr val="accent3"/>
                </a:solidFill>
              </a:rPr>
              <a:t>/10</a:t>
            </a:r>
            <a:endParaRPr lang="en-US" sz="1400" dirty="0"/>
          </a:p>
        </p:txBody>
      </p:sp>
      <p:sp>
        <p:nvSpPr>
          <p:cNvPr id="9" name="Text 5"/>
          <p:cNvSpPr txBox="1"/>
          <p:nvPr/>
        </p:nvSpPr>
        <p:spPr>
          <a:xfrm>
            <a:off x="9875520" y="2240280"/>
            <a:ext cx="1645920" cy="365760"/>
          </a:xfrm>
          <a:prstGeom prst="rect">
            <a:avLst/>
          </a:prstGeom>
          <a:noFill/>
          <a:ln/>
        </p:spPr>
        <p:txBody>
          <a:bodyPr wrap="square" lIns="0" tIns="0" rIns="0" bIns="0" rtlCol="0" anchor="t"/>
          <a:lstStyle/>
          <a:p>
            <a:pPr indent="0" marL="0">
              <a:buNone/>
            </a:pPr>
            <a:r>
              <a:rPr lang="en-US" sz="1500" b="1" dirty="0">
                <a:solidFill>
                  <a:schemeClr val="bg1"/>
                </a:solidFill>
              </a:rPr>
              <a:t>Proposition</a:t>
            </a:r>
            <a:endParaRPr lang="en-US" sz="1500" dirty="0"/>
          </a:p>
        </p:txBody>
      </p:sp>
      <p:sp>
        <p:nvSpPr>
          <p:cNvPr id="10" name="Text 6"/>
          <p:cNvSpPr txBox="1"/>
          <p:nvPr/>
        </p:nvSpPr>
        <p:spPr>
          <a:xfrm>
            <a:off x="9875520" y="2587752"/>
            <a:ext cx="1645920" cy="365760"/>
          </a:xfrm>
          <a:prstGeom prst="rect">
            <a:avLst/>
          </a:prstGeom>
          <a:noFill/>
          <a:ln/>
        </p:spPr>
        <p:txBody>
          <a:bodyPr wrap="square" lIns="0" tIns="0" rIns="0" bIns="0" rtlCol="0" anchor="t"/>
          <a:lstStyle/>
          <a:p>
            <a:pPr indent="0" marL="0">
              <a:buNone/>
            </a:pPr>
            <a:r>
              <a:rPr lang="en-US" sz="1200" dirty="0">
                <a:solidFill>
                  <a:schemeClr val="accent3"/>
                </a:solidFill>
              </a:rPr>
              <a:t>#1 of 11</a:t>
            </a:r>
            <a:endParaRPr lang="en-US" sz="1200" dirty="0"/>
          </a:p>
        </p:txBody>
      </p:sp>
      <p:sp>
        <p:nvSpPr>
          <p:cNvPr id="11" name="Text 7"/>
          <p:cNvSpPr txBox="1"/>
          <p:nvPr/>
        </p:nvSpPr>
        <p:spPr>
          <a:xfrm>
            <a:off x="8138160" y="3429000"/>
            <a:ext cx="1371600" cy="82296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2.8</a:t>
            </a:r>
            <a:endParaRPr lang="en-US" sz="4400" dirty="0"/>
          </a:p>
        </p:txBody>
      </p:sp>
      <p:sp>
        <p:nvSpPr>
          <p:cNvPr id="12" name="Text 8"/>
          <p:cNvSpPr txBox="1"/>
          <p:nvPr/>
        </p:nvSpPr>
        <p:spPr>
          <a:xfrm>
            <a:off x="9281160" y="3776472"/>
            <a:ext cx="548640" cy="365760"/>
          </a:xfrm>
          <a:prstGeom prst="rect">
            <a:avLst/>
          </a:prstGeom>
          <a:noFill/>
          <a:ln/>
        </p:spPr>
        <p:txBody>
          <a:bodyPr wrap="square" lIns="0" tIns="0" rIns="0" bIns="0" rtlCol="0" anchor="t"/>
          <a:lstStyle/>
          <a:p>
            <a:pPr indent="0" marL="0">
              <a:buNone/>
            </a:pPr>
            <a:r>
              <a:rPr lang="en-US" sz="1400" dirty="0">
                <a:solidFill>
                  <a:schemeClr val="accent3"/>
                </a:solidFill>
              </a:rPr>
              <a:t>/10</a:t>
            </a:r>
            <a:endParaRPr lang="en-US" sz="1400" dirty="0"/>
          </a:p>
        </p:txBody>
      </p:sp>
      <p:sp>
        <p:nvSpPr>
          <p:cNvPr id="13" name="Text 9"/>
          <p:cNvSpPr txBox="1"/>
          <p:nvPr/>
        </p:nvSpPr>
        <p:spPr>
          <a:xfrm>
            <a:off x="9875520" y="3520440"/>
            <a:ext cx="1645920" cy="365760"/>
          </a:xfrm>
          <a:prstGeom prst="rect">
            <a:avLst/>
          </a:prstGeom>
          <a:noFill/>
          <a:ln/>
        </p:spPr>
        <p:txBody>
          <a:bodyPr wrap="square" lIns="0" tIns="0" rIns="0" bIns="0" rtlCol="0" anchor="t"/>
          <a:lstStyle/>
          <a:p>
            <a:pPr indent="0" marL="0">
              <a:buNone/>
            </a:pPr>
            <a:r>
              <a:rPr lang="en-US" sz="1500" b="1" dirty="0">
                <a:solidFill>
                  <a:schemeClr val="bg1"/>
                </a:solidFill>
              </a:rPr>
              <a:t>Market strength</a:t>
            </a:r>
            <a:endParaRPr lang="en-US" sz="1500" dirty="0"/>
          </a:p>
        </p:txBody>
      </p:sp>
      <p:sp>
        <p:nvSpPr>
          <p:cNvPr id="14" name="Text 10"/>
          <p:cNvSpPr txBox="1"/>
          <p:nvPr/>
        </p:nvSpPr>
        <p:spPr>
          <a:xfrm>
            <a:off x="9875520" y="3867912"/>
            <a:ext cx="1645920" cy="365760"/>
          </a:xfrm>
          <a:prstGeom prst="rect">
            <a:avLst/>
          </a:prstGeom>
          <a:noFill/>
          <a:ln/>
        </p:spPr>
        <p:txBody>
          <a:bodyPr wrap="square" lIns="0" tIns="0" rIns="0" bIns="0" rtlCol="0" anchor="t"/>
          <a:lstStyle/>
          <a:p>
            <a:pPr indent="0" marL="0">
              <a:buNone/>
            </a:pPr>
            <a:r>
              <a:rPr lang="en-US" sz="1200" dirty="0">
                <a:solidFill>
                  <a:schemeClr val="accent3"/>
                </a:solidFill>
              </a:rPr>
              <a:t>#11 of 11</a:t>
            </a:r>
            <a:endParaRPr lang="en-US" sz="1200" dirty="0"/>
          </a:p>
        </p:txBody>
      </p:sp>
      <p:sp>
        <p:nvSpPr>
          <p:cNvPr id="15" name="Text 11"/>
          <p:cNvSpPr txBox="1"/>
          <p:nvPr/>
        </p:nvSpPr>
        <p:spPr>
          <a:xfrm>
            <a:off x="8138160" y="4709160"/>
            <a:ext cx="1371600" cy="82296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6.0</a:t>
            </a:r>
            <a:endParaRPr lang="en-US" sz="4400" dirty="0"/>
          </a:p>
        </p:txBody>
      </p:sp>
      <p:sp>
        <p:nvSpPr>
          <p:cNvPr id="16" name="Text 12"/>
          <p:cNvSpPr txBox="1"/>
          <p:nvPr/>
        </p:nvSpPr>
        <p:spPr>
          <a:xfrm>
            <a:off x="9281160" y="5056632"/>
            <a:ext cx="548640" cy="365760"/>
          </a:xfrm>
          <a:prstGeom prst="rect">
            <a:avLst/>
          </a:prstGeom>
          <a:noFill/>
          <a:ln/>
        </p:spPr>
        <p:txBody>
          <a:bodyPr wrap="square" lIns="0" tIns="0" rIns="0" bIns="0" rtlCol="0" anchor="t"/>
          <a:lstStyle/>
          <a:p>
            <a:pPr indent="0" marL="0">
              <a:buNone/>
            </a:pPr>
            <a:r>
              <a:rPr lang="en-US" sz="1400" dirty="0">
                <a:solidFill>
                  <a:schemeClr val="accent3"/>
                </a:solidFill>
              </a:rPr>
              <a:t>/10</a:t>
            </a:r>
            <a:endParaRPr lang="en-US" sz="1400" dirty="0"/>
          </a:p>
        </p:txBody>
      </p:sp>
      <p:sp>
        <p:nvSpPr>
          <p:cNvPr id="17" name="Text 13"/>
          <p:cNvSpPr txBox="1"/>
          <p:nvPr/>
        </p:nvSpPr>
        <p:spPr>
          <a:xfrm>
            <a:off x="9875520" y="4800600"/>
            <a:ext cx="1645920" cy="365760"/>
          </a:xfrm>
          <a:prstGeom prst="rect">
            <a:avLst/>
          </a:prstGeom>
          <a:noFill/>
          <a:ln/>
        </p:spPr>
        <p:txBody>
          <a:bodyPr wrap="square" lIns="0" tIns="0" rIns="0" bIns="0" rtlCol="0" anchor="t"/>
          <a:lstStyle/>
          <a:p>
            <a:pPr indent="0" marL="0">
              <a:buNone/>
            </a:pPr>
            <a:r>
              <a:rPr lang="en-US" sz="1500" b="1" dirty="0">
                <a:solidFill>
                  <a:schemeClr val="bg1"/>
                </a:solidFill>
              </a:rPr>
              <a:t>Overall</a:t>
            </a:r>
            <a:endParaRPr lang="en-US" sz="1500" dirty="0"/>
          </a:p>
        </p:txBody>
      </p:sp>
      <p:sp>
        <p:nvSpPr>
          <p:cNvPr id="18" name="Text 14"/>
          <p:cNvSpPr txBox="1"/>
          <p:nvPr/>
        </p:nvSpPr>
        <p:spPr>
          <a:xfrm>
            <a:off x="9875520" y="5148072"/>
            <a:ext cx="1645920" cy="365760"/>
          </a:xfrm>
          <a:prstGeom prst="rect">
            <a:avLst/>
          </a:prstGeom>
          <a:noFill/>
          <a:ln/>
        </p:spPr>
        <p:txBody>
          <a:bodyPr wrap="square" lIns="0" tIns="0" rIns="0" bIns="0" rtlCol="0" anchor="t"/>
          <a:lstStyle/>
          <a:p>
            <a:pPr indent="0" marL="0">
              <a:buNone/>
            </a:pPr>
            <a:r>
              <a:rPr lang="en-US" sz="1200" dirty="0">
                <a:solidFill>
                  <a:schemeClr val="accent3"/>
                </a:solidFill>
              </a:rPr>
              <a:t>Amazon leads at 7.6</a:t>
            </a:r>
            <a:endParaRPr lang="en-US" sz="1200" dirty="0"/>
          </a:p>
        </p:txBody>
      </p:sp>
      <p:sp>
        <p:nvSpPr>
          <p:cNvPr id="19" name="Text 15"/>
          <p:cNvSpPr txBox="1"/>
          <p:nvPr/>
        </p:nvSpPr>
        <p:spPr>
          <a:xfrm>
            <a:off x="8138160" y="5532120"/>
            <a:ext cx="3200400" cy="548640"/>
          </a:xfrm>
          <a:prstGeom prst="rect">
            <a:avLst/>
          </a:prstGeom>
          <a:noFill/>
          <a:ln/>
        </p:spPr>
        <p:txBody>
          <a:bodyPr wrap="square" lIns="0" tIns="0" rIns="0" bIns="0" rtlCol="0" anchor="t"/>
          <a:lstStyle/>
          <a:p>
            <a:pPr indent="0" marL="0">
              <a:buNone/>
            </a:pPr>
            <a:r>
              <a:rPr lang="en-US" sz="1200" i="1" dirty="0">
                <a:solidFill>
                  <a:schemeClr val="bg1"/>
                </a:solidFill>
              </a:rPr>
              <a:t>Strongest product on paper. The gap is execution: speed, shops onboarded and brand.</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Scorecard by criterion (1 = weak, 5 = best in class)</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64240" cy="914400"/>
        </p:xfrm>
        <a:graphic>
          <a:graphicData uri="http://schemas.openxmlformats.org/drawingml/2006/table">
            <a:tbl>
              <a:tblPr/>
              <a:tblGrid>
                <a:gridCol w="1463040"/>
                <a:gridCol w="822960"/>
                <a:gridCol w="822960"/>
                <a:gridCol w="822960"/>
                <a:gridCol w="822960"/>
                <a:gridCol w="822960"/>
                <a:gridCol w="822960"/>
                <a:gridCol w="822960"/>
                <a:gridCol w="822960"/>
                <a:gridCol w="822960"/>
                <a:gridCol w="777240"/>
                <a:gridCol w="777240"/>
                <a:gridCol w="640080"/>
              </a:tblGrid>
              <a:tr h="685800">
                <a:tc>
                  <a:txBody>
                    <a:bodyPr/>
                    <a:lstStyle/>
                    <a:p>
                      <a:pPr algn="l" indent="0" marL="0">
                        <a:buNone/>
                      </a:pPr>
                      <a:r>
                        <a:rPr lang="en-US" sz="1100" b="1" dirty="0">
                          <a:solidFill>
                            <a:schemeClr val="bg1"/>
                          </a:solidFill>
                        </a:rPr>
                        <a:t>Company</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Subscription flexibility (20%)</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Fee clarity (20%)</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Local-shop &amp; seller value (20%)</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Trust &amp; quality signals (15%)</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Assortment (15%)</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Loyalty &amp; offers (10%)</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Delivery speed (40%)</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Scale &amp; reach (40%)</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Brand &amp; public ratings (20%)</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Prop.</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Market</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100" b="1" dirty="0">
                          <a:solidFill>
                            <a:schemeClr val="bg1"/>
                          </a:solidFill>
                        </a:rPr>
                        <a:t>Overall</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accent1"/>
                    </a:solidFill>
                  </a:tcPr>
                </a:tc>
              </a:tr>
              <a:tr h="365760">
                <a:tc>
                  <a:txBody>
                    <a:bodyPr/>
                    <a:lstStyle/>
                    <a:p>
                      <a:pPr indent="0" marL="0">
                        <a:buNone/>
                      </a:pPr>
                      <a:r>
                        <a:rPr lang="en-US" sz="1100" b="1" dirty="0">
                          <a:solidFill>
                            <a:schemeClr val="tx2"/>
                          </a:solidFill>
                        </a:rPr>
                        <a:t>Amazon</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dirty="0">
                          <a:solidFill>
                            <a:srgbClr val="1E1A17"/>
                          </a:solidFill>
                        </a:rPr>
                        <a:t>1</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FE2"/>
                    </a:solidFill>
                  </a:tcPr>
                </a:tc>
                <a:tc>
                  <a:txBody>
                    <a:bodyPr/>
                    <a:lstStyle/>
                    <a:p>
                      <a:pPr algn="ctr" indent="0" marL="0">
                        <a:buNone/>
                      </a:pPr>
                      <a:r>
                        <a:rPr lang="en-US" sz="1100" dirty="0">
                          <a:solidFill>
                            <a:srgbClr val="1E1A17"/>
                          </a:solidFill>
                        </a:rPr>
                        <a:t>3</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B47A"/>
                    </a:solidFill>
                  </a:tcPr>
                </a:tc>
                <a:tc>
                  <a:txBody>
                    <a:bodyPr/>
                    <a:lstStyle/>
                    <a:p>
                      <a:pPr algn="ctr" indent="0" marL="0">
                        <a:buNone/>
                      </a:pPr>
                      <a:r>
                        <a:rPr lang="en-US" sz="1100" dirty="0">
                          <a:solidFill>
                            <a:srgbClr val="1E1A17"/>
                          </a:solidFill>
                        </a:rPr>
                        <a:t>3</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B47A"/>
                    </a:solidFill>
                  </a:tcPr>
                </a:tc>
                <a:tc>
                  <a:txBody>
                    <a:bodyPr/>
                    <a:lstStyle/>
                    <a:p>
                      <a:pPr algn="ctr" indent="0" marL="0">
                        <a:buNone/>
                      </a:pPr>
                      <a:r>
                        <a:rPr lang="en-US" sz="1100" dirty="0">
                          <a:solidFill>
                            <a:srgbClr val="1E1A17"/>
                          </a:solidFill>
                        </a:rPr>
                        <a:t>4</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8A3D"/>
                    </a:solidFill>
                  </a:tcPr>
                </a:tc>
                <a:tc>
                  <a:txBody>
                    <a:bodyPr/>
                    <a:lstStyle/>
                    <a:p>
                      <a:pPr algn="ctr" indent="0" marL="0">
                        <a:buNone/>
                      </a:pPr>
                      <a:r>
                        <a:rPr lang="en-US" sz="1100" dirty="0">
                          <a:solidFill>
                            <a:srgbClr val="FFFFFF"/>
                          </a:solidFill>
                        </a:rPr>
                        <a:t>5</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9570C"/>
                    </a:solidFill>
                  </a:tcPr>
                </a:tc>
                <a:tc>
                  <a:txBody>
                    <a:bodyPr/>
                    <a:lstStyle/>
                    <a:p>
                      <a:pPr algn="ctr" indent="0" marL="0">
                        <a:buNone/>
                      </a:pPr>
                      <a:r>
                        <a:rPr lang="en-US" sz="1100" dirty="0">
                          <a:solidFill>
                            <a:srgbClr val="FFFFFF"/>
                          </a:solidFill>
                        </a:rPr>
                        <a:t>5</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9570C"/>
                    </a:solidFill>
                  </a:tcPr>
                </a:tc>
                <a:tc>
                  <a:txBody>
                    <a:bodyPr/>
                    <a:lstStyle/>
                    <a:p>
                      <a:pPr algn="ctr" indent="0" marL="0">
                        <a:buNone/>
                      </a:pPr>
                      <a:r>
                        <a:rPr lang="en-US" sz="1100" dirty="0">
                          <a:solidFill>
                            <a:srgbClr val="1E1A17"/>
                          </a:solidFill>
                        </a:rPr>
                        <a:t>4</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8A3D"/>
                    </a:solidFill>
                  </a:tcPr>
                </a:tc>
                <a:tc>
                  <a:txBody>
                    <a:bodyPr/>
                    <a:lstStyle/>
                    <a:p>
                      <a:pPr algn="ctr" indent="0" marL="0">
                        <a:buNone/>
                      </a:pPr>
                      <a:r>
                        <a:rPr lang="en-US" sz="1100" dirty="0">
                          <a:solidFill>
                            <a:srgbClr val="FFFFFF"/>
                          </a:solidFill>
                        </a:rPr>
                        <a:t>5</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9570C"/>
                    </a:solidFill>
                  </a:tcPr>
                </a:tc>
                <a:tc>
                  <a:txBody>
                    <a:bodyPr/>
                    <a:lstStyle/>
                    <a:p>
                      <a:pPr algn="ctr" indent="0" marL="0">
                        <a:buNone/>
                      </a:pPr>
                      <a:r>
                        <a:rPr lang="en-US" sz="1100" dirty="0">
                          <a:solidFill>
                            <a:srgbClr val="FFFFFF"/>
                          </a:solidFill>
                        </a:rPr>
                        <a:t>5</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9570C"/>
                    </a:solidFill>
                  </a:tcPr>
                </a:tc>
                <a:tc>
                  <a:txBody>
                    <a:bodyPr/>
                    <a:lstStyle/>
                    <a:p>
                      <a:pPr algn="ctr" indent="0" marL="0">
                        <a:buNone/>
                      </a:pPr>
                      <a:r>
                        <a:rPr lang="en-US" sz="1100" b="1" dirty="0">
                          <a:solidFill>
                            <a:schemeClr val="tx2"/>
                          </a:solidFill>
                        </a:rPr>
                        <a:t>6.5</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tx2"/>
                          </a:solidFill>
                        </a:rPr>
                        <a:t>9.2</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tx2"/>
                          </a:solidFill>
                        </a:rPr>
                        <a:t>7.6</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100" b="1" dirty="0">
                          <a:solidFill>
                            <a:schemeClr val="tx2"/>
                          </a:solidFill>
                        </a:rPr>
                        <a:t>Flipkart</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dirty="0">
                          <a:solidFill>
                            <a:srgbClr val="1E1A17"/>
                          </a:solidFill>
                        </a:rPr>
                        <a:t>1</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FE2"/>
                    </a:solidFill>
                  </a:tcPr>
                </a:tc>
                <a:tc>
                  <a:txBody>
                    <a:bodyPr/>
                    <a:lstStyle/>
                    <a:p>
                      <a:pPr algn="ctr" indent="0" marL="0">
                        <a:buNone/>
                      </a:pPr>
                      <a:r>
                        <a:rPr lang="en-US" sz="1100" dirty="0">
                          <a:solidFill>
                            <a:srgbClr val="1E1A17"/>
                          </a:solidFill>
                        </a:rPr>
                        <a:t>2</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AD5B0"/>
                    </a:solidFill>
                  </a:tcPr>
                </a:tc>
                <a:tc>
                  <a:txBody>
                    <a:bodyPr/>
                    <a:lstStyle/>
                    <a:p>
                      <a:pPr algn="ctr" indent="0" marL="0">
                        <a:buNone/>
                      </a:pPr>
                      <a:r>
                        <a:rPr lang="en-US" sz="1100" dirty="0">
                          <a:solidFill>
                            <a:srgbClr val="1E1A17"/>
                          </a:solidFill>
                        </a:rPr>
                        <a:t>2</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AD5B0"/>
                    </a:solidFill>
                  </a:tcPr>
                </a:tc>
                <a:tc>
                  <a:txBody>
                    <a:bodyPr/>
                    <a:lstStyle/>
                    <a:p>
                      <a:pPr algn="ctr" indent="0" marL="0">
                        <a:buNone/>
                      </a:pPr>
                      <a:r>
                        <a:rPr lang="en-US" sz="1100" dirty="0">
                          <a:solidFill>
                            <a:srgbClr val="1E1A17"/>
                          </a:solidFill>
                        </a:rPr>
                        <a:t>4</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8A3D"/>
                    </a:solidFill>
                  </a:tcPr>
                </a:tc>
                <a:tc>
                  <a:txBody>
                    <a:bodyPr/>
                    <a:lstStyle/>
                    <a:p>
                      <a:pPr algn="ctr" indent="0" marL="0">
                        <a:buNone/>
                      </a:pPr>
                      <a:r>
                        <a:rPr lang="en-US" sz="1100" dirty="0">
                          <a:solidFill>
                            <a:srgbClr val="FFFFFF"/>
                          </a:solidFill>
                        </a:rPr>
                        <a:t>5</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9570C"/>
                    </a:solidFill>
                  </a:tcPr>
                </a:tc>
                <a:tc>
                  <a:txBody>
                    <a:bodyPr/>
                    <a:lstStyle/>
                    <a:p>
                      <a:pPr algn="ctr" indent="0" marL="0">
                        <a:buNone/>
                      </a:pPr>
                      <a:r>
                        <a:rPr lang="en-US" sz="1100" dirty="0">
                          <a:solidFill>
                            <a:srgbClr val="1E1A17"/>
                          </a:solidFill>
                        </a:rPr>
                        <a:t>4</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8A3D"/>
                    </a:solidFill>
                  </a:tcPr>
                </a:tc>
                <a:tc>
                  <a:txBody>
                    <a:bodyPr/>
                    <a:lstStyle/>
                    <a:p>
                      <a:pPr algn="ctr" indent="0" marL="0">
                        <a:buNone/>
                      </a:pPr>
                      <a:r>
                        <a:rPr lang="en-US" sz="1100" dirty="0">
                          <a:solidFill>
                            <a:srgbClr val="1E1A17"/>
                          </a:solidFill>
                        </a:rPr>
                        <a:t>3</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B47A"/>
                    </a:solidFill>
                  </a:tcPr>
                </a:tc>
                <a:tc>
                  <a:txBody>
                    <a:bodyPr/>
                    <a:lstStyle/>
                    <a:p>
                      <a:pPr algn="ctr" indent="0" marL="0">
                        <a:buNone/>
                      </a:pPr>
                      <a:r>
                        <a:rPr lang="en-US" sz="1100" dirty="0">
                          <a:solidFill>
                            <a:srgbClr val="FFFFFF"/>
                          </a:solidFill>
                        </a:rPr>
                        <a:t>5</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9570C"/>
                    </a:solidFill>
                  </a:tcPr>
                </a:tc>
                <a:tc>
                  <a:txBody>
                    <a:bodyPr/>
                    <a:lstStyle/>
                    <a:p>
                      <a:pPr algn="ctr" indent="0" marL="0">
                        <a:buNone/>
                      </a:pPr>
                      <a:r>
                        <a:rPr lang="en-US" sz="1100" dirty="0">
                          <a:solidFill>
                            <a:srgbClr val="FFFFFF"/>
                          </a:solidFill>
                        </a:rPr>
                        <a:t>5</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9570C"/>
                    </a:solidFill>
                  </a:tcPr>
                </a:tc>
                <a:tc>
                  <a:txBody>
                    <a:bodyPr/>
                    <a:lstStyle/>
                    <a:p>
                      <a:pPr algn="ctr" indent="0" marL="0">
                        <a:buNone/>
                      </a:pPr>
                      <a:r>
                        <a:rPr lang="en-US" sz="1100" b="1" dirty="0">
                          <a:solidFill>
                            <a:schemeClr val="tx2"/>
                          </a:solidFill>
                        </a:rPr>
                        <a:t>5.5</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tx2"/>
                          </a:solidFill>
                        </a:rPr>
                        <a:t>8.4</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tx2"/>
                          </a:solidFill>
                        </a:rPr>
                        <a:t>6.7</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100" b="1" dirty="0">
                          <a:solidFill>
                            <a:schemeClr val="tx2"/>
                          </a:solidFill>
                        </a:rPr>
                        <a:t>BigBasket</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dirty="0">
                          <a:solidFill>
                            <a:srgbClr val="1E1A17"/>
                          </a:solidFill>
                        </a:rPr>
                        <a:t>4</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8A3D"/>
                    </a:solidFill>
                  </a:tcPr>
                </a:tc>
                <a:tc>
                  <a:txBody>
                    <a:bodyPr/>
                    <a:lstStyle/>
                    <a:p>
                      <a:pPr algn="ctr" indent="0" marL="0">
                        <a:buNone/>
                      </a:pPr>
                      <a:r>
                        <a:rPr lang="en-US" sz="1100" dirty="0">
                          <a:solidFill>
                            <a:srgbClr val="1E1A17"/>
                          </a:solidFill>
                        </a:rPr>
                        <a:t>3</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B47A"/>
                    </a:solidFill>
                  </a:tcPr>
                </a:tc>
                <a:tc>
                  <a:txBody>
                    <a:bodyPr/>
                    <a:lstStyle/>
                    <a:p>
                      <a:pPr algn="ctr" indent="0" marL="0">
                        <a:buNone/>
                      </a:pPr>
                      <a:r>
                        <a:rPr lang="en-US" sz="1100" dirty="0">
                          <a:solidFill>
                            <a:srgbClr val="1E1A17"/>
                          </a:solidFill>
                        </a:rPr>
                        <a:t>1</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FE2"/>
                    </a:solidFill>
                  </a:tcPr>
                </a:tc>
                <a:tc>
                  <a:txBody>
                    <a:bodyPr/>
                    <a:lstStyle/>
                    <a:p>
                      <a:pPr algn="ctr" indent="0" marL="0">
                        <a:buNone/>
                      </a:pPr>
                      <a:r>
                        <a:rPr lang="en-US" sz="1100" dirty="0">
                          <a:solidFill>
                            <a:srgbClr val="1E1A17"/>
                          </a:solidFill>
                        </a:rPr>
                        <a:t>4</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8A3D"/>
                    </a:solidFill>
                  </a:tcPr>
                </a:tc>
                <a:tc>
                  <a:txBody>
                    <a:bodyPr/>
                    <a:lstStyle/>
                    <a:p>
                      <a:pPr algn="ctr" indent="0" marL="0">
                        <a:buNone/>
                      </a:pPr>
                      <a:r>
                        <a:rPr lang="en-US" sz="1100" dirty="0">
                          <a:solidFill>
                            <a:srgbClr val="1E1A17"/>
                          </a:solidFill>
                        </a:rPr>
                        <a:t>4</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8A3D"/>
                    </a:solidFill>
                  </a:tcPr>
                </a:tc>
                <a:tc>
                  <a:txBody>
                    <a:bodyPr/>
                    <a:lstStyle/>
                    <a:p>
                      <a:pPr algn="ctr" indent="0" marL="0">
                        <a:buNone/>
                      </a:pPr>
                      <a:r>
                        <a:rPr lang="en-US" sz="1100" dirty="0">
                          <a:solidFill>
                            <a:srgbClr val="1E1A17"/>
                          </a:solidFill>
                        </a:rPr>
                        <a:t>3</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B47A"/>
                    </a:solidFill>
                  </a:tcPr>
                </a:tc>
                <a:tc>
                  <a:txBody>
                    <a:bodyPr/>
                    <a:lstStyle/>
                    <a:p>
                      <a:pPr algn="ctr" indent="0" marL="0">
                        <a:buNone/>
                      </a:pPr>
                      <a:r>
                        <a:rPr lang="en-US" sz="1100" dirty="0">
                          <a:solidFill>
                            <a:srgbClr val="1E1A17"/>
                          </a:solidFill>
                        </a:rPr>
                        <a:t>4</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8A3D"/>
                    </a:solidFill>
                  </a:tcPr>
                </a:tc>
                <a:tc>
                  <a:txBody>
                    <a:bodyPr/>
                    <a:lstStyle/>
                    <a:p>
                      <a:pPr algn="ctr" indent="0" marL="0">
                        <a:buNone/>
                      </a:pPr>
                      <a:r>
                        <a:rPr lang="en-US" sz="1100" dirty="0">
                          <a:solidFill>
                            <a:srgbClr val="1E1A17"/>
                          </a:solidFill>
                        </a:rPr>
                        <a:t>3</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B47A"/>
                    </a:solidFill>
                  </a:tcPr>
                </a:tc>
                <a:tc>
                  <a:txBody>
                    <a:bodyPr/>
                    <a:lstStyle/>
                    <a:p>
                      <a:pPr algn="ctr" indent="0" marL="0">
                        <a:buNone/>
                      </a:pPr>
                      <a:r>
                        <a:rPr lang="en-US" sz="1100" dirty="0">
                          <a:solidFill>
                            <a:srgbClr val="1E1A17"/>
                          </a:solidFill>
                        </a:rPr>
                        <a:t>4</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8A3D"/>
                    </a:solidFill>
                  </a:tcPr>
                </a:tc>
                <a:tc>
                  <a:txBody>
                    <a:bodyPr/>
                    <a:lstStyle/>
                    <a:p>
                      <a:pPr algn="ctr" indent="0" marL="0">
                        <a:buNone/>
                      </a:pPr>
                      <a:r>
                        <a:rPr lang="en-US" sz="1100" b="1" dirty="0">
                          <a:solidFill>
                            <a:schemeClr val="tx2"/>
                          </a:solidFill>
                        </a:rPr>
                        <a:t>6.2</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tx2"/>
                          </a:solidFill>
                        </a:rPr>
                        <a:t>7.2</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tx2"/>
                          </a:solidFill>
                        </a:rPr>
                        <a:t>6.6</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100" b="1" dirty="0">
                          <a:solidFill>
                            <a:schemeClr val="tx2"/>
                          </a:solidFill>
                        </a:rPr>
                        <a:t>FK Minutes</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dirty="0">
                          <a:solidFill>
                            <a:srgbClr val="1E1A17"/>
                          </a:solidFill>
                        </a:rPr>
                        <a:t>1</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FE2"/>
                    </a:solidFill>
                  </a:tcPr>
                </a:tc>
                <a:tc>
                  <a:txBody>
                    <a:bodyPr/>
                    <a:lstStyle/>
                    <a:p>
                      <a:pPr algn="ctr" indent="0" marL="0">
                        <a:buNone/>
                      </a:pPr>
                      <a:r>
                        <a:rPr lang="en-US" sz="1100" dirty="0">
                          <a:solidFill>
                            <a:srgbClr val="1E1A17"/>
                          </a:solidFill>
                        </a:rPr>
                        <a:t>3</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B47A"/>
                    </a:solidFill>
                  </a:tcPr>
                </a:tc>
                <a:tc>
                  <a:txBody>
                    <a:bodyPr/>
                    <a:lstStyle/>
                    <a:p>
                      <a:pPr algn="ctr" indent="0" marL="0">
                        <a:buNone/>
                      </a:pPr>
                      <a:r>
                        <a:rPr lang="en-US" sz="1100" dirty="0">
                          <a:solidFill>
                            <a:srgbClr val="1E1A17"/>
                          </a:solidFill>
                        </a:rPr>
                        <a:t>1</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FE2"/>
                    </a:solidFill>
                  </a:tcPr>
                </a:tc>
                <a:tc>
                  <a:txBody>
                    <a:bodyPr/>
                    <a:lstStyle/>
                    <a:p>
                      <a:pPr algn="ctr" indent="0" marL="0">
                        <a:buNone/>
                      </a:pPr>
                      <a:r>
                        <a:rPr lang="en-US" sz="1100" dirty="0">
                          <a:solidFill>
                            <a:srgbClr val="1E1A17"/>
                          </a:solidFill>
                        </a:rPr>
                        <a:t>3</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B47A"/>
                    </a:solidFill>
                  </a:tcPr>
                </a:tc>
                <a:tc>
                  <a:txBody>
                    <a:bodyPr/>
                    <a:lstStyle/>
                    <a:p>
                      <a:pPr algn="ctr" indent="0" marL="0">
                        <a:buNone/>
                      </a:pPr>
                      <a:r>
                        <a:rPr lang="en-US" sz="1100" dirty="0">
                          <a:solidFill>
                            <a:srgbClr val="1E1A17"/>
                          </a:solidFill>
                        </a:rPr>
                        <a:t>3</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B47A"/>
                    </a:solidFill>
                  </a:tcPr>
                </a:tc>
                <a:tc>
                  <a:txBody>
                    <a:bodyPr/>
                    <a:lstStyle/>
                    <a:p>
                      <a:pPr algn="ctr" indent="0" marL="0">
                        <a:buNone/>
                      </a:pPr>
                      <a:r>
                        <a:rPr lang="en-US" sz="1100" dirty="0">
                          <a:solidFill>
                            <a:srgbClr val="1E1A17"/>
                          </a:solidFill>
                        </a:rPr>
                        <a:t>4</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8A3D"/>
                    </a:solidFill>
                  </a:tcPr>
                </a:tc>
                <a:tc>
                  <a:txBody>
                    <a:bodyPr/>
                    <a:lstStyle/>
                    <a:p>
                      <a:pPr algn="ctr" indent="0" marL="0">
                        <a:buNone/>
                      </a:pPr>
                      <a:r>
                        <a:rPr lang="en-US" sz="1100" dirty="0">
                          <a:solidFill>
                            <a:srgbClr val="FFFFFF"/>
                          </a:solidFill>
                        </a:rPr>
                        <a:t>5</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9570C"/>
                    </a:solidFill>
                  </a:tcPr>
                </a:tc>
                <a:tc>
                  <a:txBody>
                    <a:bodyPr/>
                    <a:lstStyle/>
                    <a:p>
                      <a:pPr algn="ctr" indent="0" marL="0">
                        <a:buNone/>
                      </a:pPr>
                      <a:r>
                        <a:rPr lang="en-US" sz="1100" dirty="0">
                          <a:solidFill>
                            <a:srgbClr val="1E1A17"/>
                          </a:solidFill>
                        </a:rPr>
                        <a:t>4</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8A3D"/>
                    </a:solidFill>
                  </a:tcPr>
                </a:tc>
                <a:tc>
                  <a:txBody>
                    <a:bodyPr/>
                    <a:lstStyle/>
                    <a:p>
                      <a:pPr algn="ctr" indent="0" marL="0">
                        <a:buNone/>
                      </a:pPr>
                      <a:r>
                        <a:rPr lang="en-US" sz="1100" dirty="0">
                          <a:solidFill>
                            <a:srgbClr val="1E1A17"/>
                          </a:solidFill>
                        </a:rPr>
                        <a:t>4</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8A3D"/>
                    </a:solidFill>
                  </a:tcPr>
                </a:tc>
                <a:tc>
                  <a:txBody>
                    <a:bodyPr/>
                    <a:lstStyle/>
                    <a:p>
                      <a:pPr algn="ctr" indent="0" marL="0">
                        <a:buNone/>
                      </a:pPr>
                      <a:r>
                        <a:rPr lang="en-US" sz="1100" b="1" dirty="0">
                          <a:solidFill>
                            <a:schemeClr val="tx2"/>
                          </a:solidFill>
                        </a:rPr>
                        <a:t>4.6</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tx2"/>
                          </a:solidFill>
                        </a:rPr>
                        <a:t>8.8</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tx2"/>
                          </a:solidFill>
                        </a:rPr>
                        <a:t>6.3</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100" b="1" dirty="0">
                          <a:solidFill>
                            <a:schemeClr val="tx2"/>
                          </a:solidFill>
                        </a:rPr>
                        <a:t>Blinkit</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dirty="0">
                          <a:solidFill>
                            <a:srgbClr val="1E1A17"/>
                          </a:solidFill>
                        </a:rPr>
                        <a:t>1</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FE2"/>
                    </a:solidFill>
                  </a:tcPr>
                </a:tc>
                <a:tc>
                  <a:txBody>
                    <a:bodyPr/>
                    <a:lstStyle/>
                    <a:p>
                      <a:pPr algn="ctr" indent="0" marL="0">
                        <a:buNone/>
                      </a:pPr>
                      <a:r>
                        <a:rPr lang="en-US" sz="1100" dirty="0">
                          <a:solidFill>
                            <a:srgbClr val="1E1A17"/>
                          </a:solidFill>
                        </a:rPr>
                        <a:t>2</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AD5B0"/>
                    </a:solidFill>
                  </a:tcPr>
                </a:tc>
                <a:tc>
                  <a:txBody>
                    <a:bodyPr/>
                    <a:lstStyle/>
                    <a:p>
                      <a:pPr algn="ctr" indent="0" marL="0">
                        <a:buNone/>
                      </a:pPr>
                      <a:r>
                        <a:rPr lang="en-US" sz="1100" dirty="0">
                          <a:solidFill>
                            <a:srgbClr val="1E1A17"/>
                          </a:solidFill>
                        </a:rPr>
                        <a:t>1</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FE2"/>
                    </a:solidFill>
                  </a:tcPr>
                </a:tc>
                <a:tc>
                  <a:txBody>
                    <a:bodyPr/>
                    <a:lstStyle/>
                    <a:p>
                      <a:pPr algn="ctr" indent="0" marL="0">
                        <a:buNone/>
                      </a:pPr>
                      <a:r>
                        <a:rPr lang="en-US" sz="1100" dirty="0">
                          <a:solidFill>
                            <a:srgbClr val="1E1A17"/>
                          </a:solidFill>
                        </a:rPr>
                        <a:t>3</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B47A"/>
                    </a:solidFill>
                  </a:tcPr>
                </a:tc>
                <a:tc>
                  <a:txBody>
                    <a:bodyPr/>
                    <a:lstStyle/>
                    <a:p>
                      <a:pPr algn="ctr" indent="0" marL="0">
                        <a:buNone/>
                      </a:pPr>
                      <a:r>
                        <a:rPr lang="en-US" sz="1100" dirty="0">
                          <a:solidFill>
                            <a:srgbClr val="1E1A17"/>
                          </a:solidFill>
                        </a:rPr>
                        <a:t>4</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8A3D"/>
                    </a:solidFill>
                  </a:tcPr>
                </a:tc>
                <a:tc>
                  <a:txBody>
                    <a:bodyPr/>
                    <a:lstStyle/>
                    <a:p>
                      <a:pPr algn="ctr" indent="0" marL="0">
                        <a:buNone/>
                      </a:pPr>
                      <a:r>
                        <a:rPr lang="en-US" sz="1100" dirty="0">
                          <a:solidFill>
                            <a:srgbClr val="1E1A17"/>
                          </a:solidFill>
                        </a:rPr>
                        <a:t>1</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FE2"/>
                    </a:solidFill>
                  </a:tcPr>
                </a:tc>
                <a:tc>
                  <a:txBody>
                    <a:bodyPr/>
                    <a:lstStyle/>
                    <a:p>
                      <a:pPr algn="ctr" indent="0" marL="0">
                        <a:buNone/>
                      </a:pPr>
                      <a:r>
                        <a:rPr lang="en-US" sz="1100" dirty="0">
                          <a:solidFill>
                            <a:srgbClr val="FFFFFF"/>
                          </a:solidFill>
                        </a:rPr>
                        <a:t>5</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9570C"/>
                    </a:solidFill>
                  </a:tcPr>
                </a:tc>
                <a:tc>
                  <a:txBody>
                    <a:bodyPr/>
                    <a:lstStyle/>
                    <a:p>
                      <a:pPr algn="ctr" indent="0" marL="0">
                        <a:buNone/>
                      </a:pPr>
                      <a:r>
                        <a:rPr lang="en-US" sz="1100" dirty="0">
                          <a:solidFill>
                            <a:srgbClr val="FFFFFF"/>
                          </a:solidFill>
                        </a:rPr>
                        <a:t>5</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9570C"/>
                    </a:solidFill>
                  </a:tcPr>
                </a:tc>
                <a:tc>
                  <a:txBody>
                    <a:bodyPr/>
                    <a:lstStyle/>
                    <a:p>
                      <a:pPr algn="ctr" indent="0" marL="0">
                        <a:buNone/>
                      </a:pPr>
                      <a:r>
                        <a:rPr lang="en-US" sz="1100" dirty="0">
                          <a:solidFill>
                            <a:srgbClr val="1E1A17"/>
                          </a:solidFill>
                        </a:rPr>
                        <a:t>4</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8A3D"/>
                    </a:solidFill>
                  </a:tcPr>
                </a:tc>
                <a:tc>
                  <a:txBody>
                    <a:bodyPr/>
                    <a:lstStyle/>
                    <a:p>
                      <a:pPr algn="ctr" indent="0" marL="0">
                        <a:buNone/>
                      </a:pPr>
                      <a:r>
                        <a:rPr lang="en-US" sz="1100" b="1" dirty="0">
                          <a:solidFill>
                            <a:schemeClr val="tx2"/>
                          </a:solidFill>
                        </a:rPr>
                        <a:t>3.9</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tx2"/>
                          </a:solidFill>
                        </a:rPr>
                        <a:t>9.6</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tx2"/>
                          </a:solidFill>
                        </a:rPr>
                        <a:t>6.2</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100" b="1" dirty="0">
                          <a:solidFill>
                            <a:schemeClr val="tx2"/>
                          </a:solidFill>
                        </a:rPr>
                        <a:t>Instamart</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dirty="0">
                          <a:solidFill>
                            <a:srgbClr val="1E1A17"/>
                          </a:solidFill>
                        </a:rPr>
                        <a:t>1</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FE2"/>
                    </a:solidFill>
                  </a:tcPr>
                </a:tc>
                <a:tc>
                  <a:txBody>
                    <a:bodyPr/>
                    <a:lstStyle/>
                    <a:p>
                      <a:pPr algn="ctr" indent="0" marL="0">
                        <a:buNone/>
                      </a:pPr>
                      <a:r>
                        <a:rPr lang="en-US" sz="1100" dirty="0">
                          <a:solidFill>
                            <a:srgbClr val="1E1A17"/>
                          </a:solidFill>
                        </a:rPr>
                        <a:t>2</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AD5B0"/>
                    </a:solidFill>
                  </a:tcPr>
                </a:tc>
                <a:tc>
                  <a:txBody>
                    <a:bodyPr/>
                    <a:lstStyle/>
                    <a:p>
                      <a:pPr algn="ctr" indent="0" marL="0">
                        <a:buNone/>
                      </a:pPr>
                      <a:r>
                        <a:rPr lang="en-US" sz="1100" dirty="0">
                          <a:solidFill>
                            <a:srgbClr val="1E1A17"/>
                          </a:solidFill>
                        </a:rPr>
                        <a:t>1</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FE2"/>
                    </a:solidFill>
                  </a:tcPr>
                </a:tc>
                <a:tc>
                  <a:txBody>
                    <a:bodyPr/>
                    <a:lstStyle/>
                    <a:p>
                      <a:pPr algn="ctr" indent="0" marL="0">
                        <a:buNone/>
                      </a:pPr>
                      <a:r>
                        <a:rPr lang="en-US" sz="1100" dirty="0">
                          <a:solidFill>
                            <a:srgbClr val="1E1A17"/>
                          </a:solidFill>
                        </a:rPr>
                        <a:t>3</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B47A"/>
                    </a:solidFill>
                  </a:tcPr>
                </a:tc>
                <a:tc>
                  <a:txBody>
                    <a:bodyPr/>
                    <a:lstStyle/>
                    <a:p>
                      <a:pPr algn="ctr" indent="0" marL="0">
                        <a:buNone/>
                      </a:pPr>
                      <a:r>
                        <a:rPr lang="en-US" sz="1100" dirty="0">
                          <a:solidFill>
                            <a:srgbClr val="1E1A17"/>
                          </a:solidFill>
                        </a:rPr>
                        <a:t>4</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8A3D"/>
                    </a:solidFill>
                  </a:tcPr>
                </a:tc>
                <a:tc>
                  <a:txBody>
                    <a:bodyPr/>
                    <a:lstStyle/>
                    <a:p>
                      <a:pPr algn="ctr" indent="0" marL="0">
                        <a:buNone/>
                      </a:pPr>
                      <a:r>
                        <a:rPr lang="en-US" sz="1100" dirty="0">
                          <a:solidFill>
                            <a:srgbClr val="1E1A17"/>
                          </a:solidFill>
                        </a:rPr>
                        <a:t>3</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B47A"/>
                    </a:solidFill>
                  </a:tcPr>
                </a:tc>
                <a:tc>
                  <a:txBody>
                    <a:bodyPr/>
                    <a:lstStyle/>
                    <a:p>
                      <a:pPr algn="ctr" indent="0" marL="0">
                        <a:buNone/>
                      </a:pPr>
                      <a:r>
                        <a:rPr lang="en-US" sz="1100" dirty="0">
                          <a:solidFill>
                            <a:srgbClr val="FFFFFF"/>
                          </a:solidFill>
                        </a:rPr>
                        <a:t>5</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9570C"/>
                    </a:solidFill>
                  </a:tcPr>
                </a:tc>
                <a:tc>
                  <a:txBody>
                    <a:bodyPr/>
                    <a:lstStyle/>
                    <a:p>
                      <a:pPr algn="ctr" indent="0" marL="0">
                        <a:buNone/>
                      </a:pPr>
                      <a:r>
                        <a:rPr lang="en-US" sz="1100" dirty="0">
                          <a:solidFill>
                            <a:srgbClr val="1E1A17"/>
                          </a:solidFill>
                        </a:rPr>
                        <a:t>4</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8A3D"/>
                    </a:solidFill>
                  </a:tcPr>
                </a:tc>
                <a:tc>
                  <a:txBody>
                    <a:bodyPr/>
                    <a:lstStyle/>
                    <a:p>
                      <a:pPr algn="ctr" indent="0" marL="0">
                        <a:buNone/>
                      </a:pPr>
                      <a:r>
                        <a:rPr lang="en-US" sz="1100" dirty="0">
                          <a:solidFill>
                            <a:srgbClr val="1E1A17"/>
                          </a:solidFill>
                        </a:rPr>
                        <a:t>4</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8A3D"/>
                    </a:solidFill>
                  </a:tcPr>
                </a:tc>
                <a:tc>
                  <a:txBody>
                    <a:bodyPr/>
                    <a:lstStyle/>
                    <a:p>
                      <a:pPr algn="ctr" indent="0" marL="0">
                        <a:buNone/>
                      </a:pPr>
                      <a:r>
                        <a:rPr lang="en-US" sz="1100" b="1" dirty="0">
                          <a:solidFill>
                            <a:schemeClr val="tx2"/>
                          </a:solidFill>
                        </a:rPr>
                        <a:t>4.3</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tx2"/>
                          </a:solidFill>
                        </a:rPr>
                        <a:t>8.8</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tx2"/>
                          </a:solidFill>
                        </a:rPr>
                        <a:t>6.1</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100" b="1" dirty="0">
                          <a:solidFill>
                            <a:schemeClr val="tx2"/>
                          </a:solidFill>
                        </a:rPr>
                        <a:t>JioMart</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dirty="0">
                          <a:solidFill>
                            <a:srgbClr val="1E1A17"/>
                          </a:solidFill>
                        </a:rPr>
                        <a:t>2</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AD5B0"/>
                    </a:solidFill>
                  </a:tcPr>
                </a:tc>
                <a:tc>
                  <a:txBody>
                    <a:bodyPr/>
                    <a:lstStyle/>
                    <a:p>
                      <a:pPr algn="ctr" indent="0" marL="0">
                        <a:buNone/>
                      </a:pPr>
                      <a:r>
                        <a:rPr lang="en-US" sz="1100" dirty="0">
                          <a:solidFill>
                            <a:srgbClr val="1E1A17"/>
                          </a:solidFill>
                        </a:rPr>
                        <a:t>3</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B47A"/>
                    </a:solidFill>
                  </a:tcPr>
                </a:tc>
                <a:tc>
                  <a:txBody>
                    <a:bodyPr/>
                    <a:lstStyle/>
                    <a:p>
                      <a:pPr algn="ctr" indent="0" marL="0">
                        <a:buNone/>
                      </a:pPr>
                      <a:r>
                        <a:rPr lang="en-US" sz="1100" dirty="0">
                          <a:solidFill>
                            <a:srgbClr val="1E1A17"/>
                          </a:solidFill>
                        </a:rPr>
                        <a:t>3</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B47A"/>
                    </a:solidFill>
                  </a:tcPr>
                </a:tc>
                <a:tc>
                  <a:txBody>
                    <a:bodyPr/>
                    <a:lstStyle/>
                    <a:p>
                      <a:pPr algn="ctr" indent="0" marL="0">
                        <a:buNone/>
                      </a:pPr>
                      <a:r>
                        <a:rPr lang="en-US" sz="1100" dirty="0">
                          <a:solidFill>
                            <a:srgbClr val="1E1A17"/>
                          </a:solidFill>
                        </a:rPr>
                        <a:t>3</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B47A"/>
                    </a:solidFill>
                  </a:tcPr>
                </a:tc>
                <a:tc>
                  <a:txBody>
                    <a:bodyPr/>
                    <a:lstStyle/>
                    <a:p>
                      <a:pPr algn="ctr" indent="0" marL="0">
                        <a:buNone/>
                      </a:pPr>
                      <a:r>
                        <a:rPr lang="en-US" sz="1100" dirty="0">
                          <a:solidFill>
                            <a:srgbClr val="1E1A17"/>
                          </a:solidFill>
                        </a:rPr>
                        <a:t>4</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8A3D"/>
                    </a:solidFill>
                  </a:tcPr>
                </a:tc>
                <a:tc>
                  <a:txBody>
                    <a:bodyPr/>
                    <a:lstStyle/>
                    <a:p>
                      <a:pPr algn="ctr" indent="0" marL="0">
                        <a:buNone/>
                      </a:pPr>
                      <a:r>
                        <a:rPr lang="en-US" sz="1100" dirty="0">
                          <a:solidFill>
                            <a:srgbClr val="1E1A17"/>
                          </a:solidFill>
                        </a:rPr>
                        <a:t>2</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AD5B0"/>
                    </a:solidFill>
                  </a:tcPr>
                </a:tc>
                <a:tc>
                  <a:txBody>
                    <a:bodyPr/>
                    <a:lstStyle/>
                    <a:p>
                      <a:pPr algn="ctr" indent="0" marL="0">
                        <a:buNone/>
                      </a:pPr>
                      <a:r>
                        <a:rPr lang="en-US" sz="1100" dirty="0">
                          <a:solidFill>
                            <a:srgbClr val="1E1A17"/>
                          </a:solidFill>
                        </a:rPr>
                        <a:t>3</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B47A"/>
                    </a:solidFill>
                  </a:tcPr>
                </a:tc>
                <a:tc>
                  <a:txBody>
                    <a:bodyPr/>
                    <a:lstStyle/>
                    <a:p>
                      <a:pPr algn="ctr" indent="0" marL="0">
                        <a:buNone/>
                      </a:pPr>
                      <a:r>
                        <a:rPr lang="en-US" sz="1100" dirty="0">
                          <a:solidFill>
                            <a:srgbClr val="1E1A17"/>
                          </a:solidFill>
                        </a:rPr>
                        <a:t>4</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8A3D"/>
                    </a:solidFill>
                  </a:tcPr>
                </a:tc>
                <a:tc>
                  <a:txBody>
                    <a:bodyPr/>
                    <a:lstStyle/>
                    <a:p>
                      <a:pPr algn="ctr" indent="0" marL="0">
                        <a:buNone/>
                      </a:pPr>
                      <a:r>
                        <a:rPr lang="en-US" sz="1100" dirty="0">
                          <a:solidFill>
                            <a:srgbClr val="1E1A17"/>
                          </a:solidFill>
                        </a:rPr>
                        <a:t>3</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B47A"/>
                    </a:solidFill>
                  </a:tcPr>
                </a:tc>
                <a:tc>
                  <a:txBody>
                    <a:bodyPr/>
                    <a:lstStyle/>
                    <a:p>
                      <a:pPr algn="ctr" indent="0" marL="0">
                        <a:buNone/>
                      </a:pPr>
                      <a:r>
                        <a:rPr lang="en-US" sz="1100" b="1" dirty="0">
                          <a:solidFill>
                            <a:schemeClr val="tx2"/>
                          </a:solidFill>
                        </a:rPr>
                        <a:t>5.7</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tx2"/>
                          </a:solidFill>
                        </a:rPr>
                        <a:t>6.8</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tx2"/>
                          </a:solidFill>
                        </a:rPr>
                        <a:t>6.1</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100" b="1" dirty="0">
                          <a:solidFill>
                            <a:schemeClr val="tx2"/>
                          </a:solidFill>
                        </a:rPr>
                        <a:t>GoKesari</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3C8"/>
                    </a:solidFill>
                  </a:tcPr>
                </a:tc>
                <a:tc>
                  <a:txBody>
                    <a:bodyPr/>
                    <a:lstStyle/>
                    <a:p>
                      <a:pPr algn="ctr" indent="0" marL="0">
                        <a:buNone/>
                      </a:pPr>
                      <a:r>
                        <a:rPr lang="en-US" sz="1100" b="1" dirty="0">
                          <a:solidFill>
                            <a:srgbClr val="FFFFFF"/>
                          </a:solidFill>
                        </a:rPr>
                        <a:t>5</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9570C"/>
                    </a:solidFill>
                  </a:tcPr>
                </a:tc>
                <a:tc>
                  <a:txBody>
                    <a:bodyPr/>
                    <a:lstStyle/>
                    <a:p>
                      <a:pPr algn="ctr" indent="0" marL="0">
                        <a:buNone/>
                      </a:pPr>
                      <a:r>
                        <a:rPr lang="en-US" sz="1100" b="1" dirty="0">
                          <a:solidFill>
                            <a:srgbClr val="FFFFFF"/>
                          </a:solidFill>
                        </a:rPr>
                        <a:t>5</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9570C"/>
                    </a:solidFill>
                  </a:tcPr>
                </a:tc>
                <a:tc>
                  <a:txBody>
                    <a:bodyPr/>
                    <a:lstStyle/>
                    <a:p>
                      <a:pPr algn="ctr" indent="0" marL="0">
                        <a:buNone/>
                      </a:pPr>
                      <a:r>
                        <a:rPr lang="en-US" sz="1100" b="1" dirty="0">
                          <a:solidFill>
                            <a:srgbClr val="FFFFFF"/>
                          </a:solidFill>
                        </a:rPr>
                        <a:t>5</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9570C"/>
                    </a:solidFill>
                  </a:tcPr>
                </a:tc>
                <a:tc>
                  <a:txBody>
                    <a:bodyPr/>
                    <a:lstStyle/>
                    <a:p>
                      <a:pPr algn="ctr" indent="0" marL="0">
                        <a:buNone/>
                      </a:pPr>
                      <a:r>
                        <a:rPr lang="en-US" sz="1100" b="1" dirty="0">
                          <a:solidFill>
                            <a:srgbClr val="1E1A17"/>
                          </a:solidFill>
                        </a:rPr>
                        <a:t>4</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8A3D"/>
                    </a:solidFill>
                  </a:tcPr>
                </a:tc>
                <a:tc>
                  <a:txBody>
                    <a:bodyPr/>
                    <a:lstStyle/>
                    <a:p>
                      <a:pPr algn="ctr" indent="0" marL="0">
                        <a:buNone/>
                      </a:pPr>
                      <a:r>
                        <a:rPr lang="en-US" sz="1100" b="1" dirty="0">
                          <a:solidFill>
                            <a:srgbClr val="1E1A17"/>
                          </a:solidFill>
                        </a:rPr>
                        <a:t>2</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AD5B0"/>
                    </a:solidFill>
                  </a:tcPr>
                </a:tc>
                <a:tc>
                  <a:txBody>
                    <a:bodyPr/>
                    <a:lstStyle/>
                    <a:p>
                      <a:pPr algn="ctr" indent="0" marL="0">
                        <a:buNone/>
                      </a:pPr>
                      <a:r>
                        <a:rPr lang="en-US" sz="1100" b="1" dirty="0">
                          <a:solidFill>
                            <a:srgbClr val="1E1A17"/>
                          </a:solidFill>
                        </a:rPr>
                        <a:t>2</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AD5B0"/>
                    </a:solidFill>
                  </a:tcPr>
                </a:tc>
                <a:tc>
                  <a:txBody>
                    <a:bodyPr/>
                    <a:lstStyle/>
                    <a:p>
                      <a:pPr algn="ctr" indent="0" marL="0">
                        <a:buNone/>
                      </a:pPr>
                      <a:r>
                        <a:rPr lang="en-US" sz="1100" b="1" dirty="0">
                          <a:solidFill>
                            <a:srgbClr val="1E1A17"/>
                          </a:solidFill>
                        </a:rPr>
                        <a:t>2</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AD5B0"/>
                    </a:solidFill>
                  </a:tcPr>
                </a:tc>
                <a:tc>
                  <a:txBody>
                    <a:bodyPr/>
                    <a:lstStyle/>
                    <a:p>
                      <a:pPr algn="ctr" indent="0" marL="0">
                        <a:buNone/>
                      </a:pPr>
                      <a:r>
                        <a:rPr lang="en-US" sz="1100" b="1" dirty="0">
                          <a:solidFill>
                            <a:srgbClr val="1E1A17"/>
                          </a:solidFill>
                        </a:rPr>
                        <a:t>1</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FE2"/>
                    </a:solidFill>
                  </a:tcPr>
                </a:tc>
                <a:tc>
                  <a:txBody>
                    <a:bodyPr/>
                    <a:lstStyle/>
                    <a:p>
                      <a:pPr algn="ctr" indent="0" marL="0">
                        <a:buNone/>
                      </a:pPr>
                      <a:r>
                        <a:rPr lang="en-US" sz="1100" b="1" dirty="0">
                          <a:solidFill>
                            <a:srgbClr val="1E1A17"/>
                          </a:solidFill>
                        </a:rPr>
                        <a:t>1</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FE2"/>
                    </a:solidFill>
                  </a:tcPr>
                </a:tc>
                <a:tc>
                  <a:txBody>
                    <a:bodyPr/>
                    <a:lstStyle/>
                    <a:p>
                      <a:pPr algn="ctr" indent="0" marL="0">
                        <a:buNone/>
                      </a:pPr>
                      <a:r>
                        <a:rPr lang="en-US" sz="1100" b="1" dirty="0">
                          <a:solidFill>
                            <a:schemeClr val="tx2"/>
                          </a:solidFill>
                        </a:rPr>
                        <a:t>8.2</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3C8"/>
                    </a:solidFill>
                  </a:tcPr>
                </a:tc>
                <a:tc>
                  <a:txBody>
                    <a:bodyPr/>
                    <a:lstStyle/>
                    <a:p>
                      <a:pPr algn="ctr" indent="0" marL="0">
                        <a:buNone/>
                      </a:pPr>
                      <a:r>
                        <a:rPr lang="en-US" sz="1100" b="1" dirty="0">
                          <a:solidFill>
                            <a:schemeClr val="tx2"/>
                          </a:solidFill>
                        </a:rPr>
                        <a:t>2.8</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3C8"/>
                    </a:solidFill>
                  </a:tcPr>
                </a:tc>
                <a:tc>
                  <a:txBody>
                    <a:bodyPr/>
                    <a:lstStyle/>
                    <a:p>
                      <a:pPr algn="ctr" indent="0" marL="0">
                        <a:buNone/>
                      </a:pPr>
                      <a:r>
                        <a:rPr lang="en-US" sz="1100" b="1" dirty="0">
                          <a:solidFill>
                            <a:schemeClr val="tx2"/>
                          </a:solidFill>
                        </a:rPr>
                        <a:t>6.0</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3C8"/>
                    </a:solidFill>
                  </a:tcPr>
                </a:tc>
              </a:tr>
              <a:tr h="365760">
                <a:tc>
                  <a:txBody>
                    <a:bodyPr/>
                    <a:lstStyle/>
                    <a:p>
                      <a:pPr indent="0" marL="0">
                        <a:buNone/>
                      </a:pPr>
                      <a:r>
                        <a:rPr lang="en-US" sz="1100" b="1" dirty="0">
                          <a:solidFill>
                            <a:schemeClr val="tx2"/>
                          </a:solidFill>
                        </a:rPr>
                        <a:t>Zepto</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dirty="0">
                          <a:solidFill>
                            <a:srgbClr val="1E1A17"/>
                          </a:solidFill>
                        </a:rPr>
                        <a:t>1</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FE2"/>
                    </a:solidFill>
                  </a:tcPr>
                </a:tc>
                <a:tc>
                  <a:txBody>
                    <a:bodyPr/>
                    <a:lstStyle/>
                    <a:p>
                      <a:pPr algn="ctr" indent="0" marL="0">
                        <a:buNone/>
                      </a:pPr>
                      <a:r>
                        <a:rPr lang="en-US" sz="1100" dirty="0">
                          <a:solidFill>
                            <a:srgbClr val="1E1A17"/>
                          </a:solidFill>
                        </a:rPr>
                        <a:t>2</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AD5B0"/>
                    </a:solidFill>
                  </a:tcPr>
                </a:tc>
                <a:tc>
                  <a:txBody>
                    <a:bodyPr/>
                    <a:lstStyle/>
                    <a:p>
                      <a:pPr algn="ctr" indent="0" marL="0">
                        <a:buNone/>
                      </a:pPr>
                      <a:r>
                        <a:rPr lang="en-US" sz="1100" dirty="0">
                          <a:solidFill>
                            <a:srgbClr val="1E1A17"/>
                          </a:solidFill>
                        </a:rPr>
                        <a:t>1</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FE2"/>
                    </a:solidFill>
                  </a:tcPr>
                </a:tc>
                <a:tc>
                  <a:txBody>
                    <a:bodyPr/>
                    <a:lstStyle/>
                    <a:p>
                      <a:pPr algn="ctr" indent="0" marL="0">
                        <a:buNone/>
                      </a:pPr>
                      <a:r>
                        <a:rPr lang="en-US" sz="1100" dirty="0">
                          <a:solidFill>
                            <a:srgbClr val="1E1A17"/>
                          </a:solidFill>
                        </a:rPr>
                        <a:t>2</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AD5B0"/>
                    </a:solidFill>
                  </a:tcPr>
                </a:tc>
                <a:tc>
                  <a:txBody>
                    <a:bodyPr/>
                    <a:lstStyle/>
                    <a:p>
                      <a:pPr algn="ctr" indent="0" marL="0">
                        <a:buNone/>
                      </a:pPr>
                      <a:r>
                        <a:rPr lang="en-US" sz="1100" dirty="0">
                          <a:solidFill>
                            <a:srgbClr val="1E1A17"/>
                          </a:solidFill>
                        </a:rPr>
                        <a:t>4</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8A3D"/>
                    </a:solidFill>
                  </a:tcPr>
                </a:tc>
                <a:tc>
                  <a:txBody>
                    <a:bodyPr/>
                    <a:lstStyle/>
                    <a:p>
                      <a:pPr algn="ctr" indent="0" marL="0">
                        <a:buNone/>
                      </a:pPr>
                      <a:r>
                        <a:rPr lang="en-US" sz="1100" dirty="0">
                          <a:solidFill>
                            <a:srgbClr val="1E1A17"/>
                          </a:solidFill>
                        </a:rPr>
                        <a:t>2</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AD5B0"/>
                    </a:solidFill>
                  </a:tcPr>
                </a:tc>
                <a:tc>
                  <a:txBody>
                    <a:bodyPr/>
                    <a:lstStyle/>
                    <a:p>
                      <a:pPr algn="ctr" indent="0" marL="0">
                        <a:buNone/>
                      </a:pPr>
                      <a:r>
                        <a:rPr lang="en-US" sz="1100" dirty="0">
                          <a:solidFill>
                            <a:srgbClr val="FFFFFF"/>
                          </a:solidFill>
                        </a:rPr>
                        <a:t>5</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9570C"/>
                    </a:solidFill>
                  </a:tcPr>
                </a:tc>
                <a:tc>
                  <a:txBody>
                    <a:bodyPr/>
                    <a:lstStyle/>
                    <a:p>
                      <a:pPr algn="ctr" indent="0" marL="0">
                        <a:buNone/>
                      </a:pPr>
                      <a:r>
                        <a:rPr lang="en-US" sz="1100" dirty="0">
                          <a:solidFill>
                            <a:srgbClr val="1E1A17"/>
                          </a:solidFill>
                        </a:rPr>
                        <a:t>4</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8A3D"/>
                    </a:solidFill>
                  </a:tcPr>
                </a:tc>
                <a:tc>
                  <a:txBody>
                    <a:bodyPr/>
                    <a:lstStyle/>
                    <a:p>
                      <a:pPr algn="ctr" indent="0" marL="0">
                        <a:buNone/>
                      </a:pPr>
                      <a:r>
                        <a:rPr lang="en-US" sz="1100" dirty="0">
                          <a:solidFill>
                            <a:srgbClr val="1E1A17"/>
                          </a:solidFill>
                        </a:rPr>
                        <a:t>4</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8A3D"/>
                    </a:solidFill>
                  </a:tcPr>
                </a:tc>
                <a:tc>
                  <a:txBody>
                    <a:bodyPr/>
                    <a:lstStyle/>
                    <a:p>
                      <a:pPr algn="ctr" indent="0" marL="0">
                        <a:buNone/>
                      </a:pPr>
                      <a:r>
                        <a:rPr lang="en-US" sz="1100" b="1" dirty="0">
                          <a:solidFill>
                            <a:schemeClr val="tx2"/>
                          </a:solidFill>
                        </a:rPr>
                        <a:t>3.8</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tx2"/>
                          </a:solidFill>
                        </a:rPr>
                        <a:t>8.8</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tx2"/>
                          </a:solidFill>
                        </a:rPr>
                        <a:t>5.8</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100" b="1" dirty="0">
                          <a:solidFill>
                            <a:schemeClr val="tx2"/>
                          </a:solidFill>
                        </a:rPr>
                        <a:t>Country Delight</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dirty="0">
                          <a:solidFill>
                            <a:srgbClr val="FFFFFF"/>
                          </a:solidFill>
                        </a:rPr>
                        <a:t>5</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9570C"/>
                    </a:solidFill>
                  </a:tcPr>
                </a:tc>
                <a:tc>
                  <a:txBody>
                    <a:bodyPr/>
                    <a:lstStyle/>
                    <a:p>
                      <a:pPr algn="ctr" indent="0" marL="0">
                        <a:buNone/>
                      </a:pPr>
                      <a:r>
                        <a:rPr lang="en-US" sz="1100" dirty="0">
                          <a:solidFill>
                            <a:srgbClr val="1E1A17"/>
                          </a:solidFill>
                        </a:rPr>
                        <a:t>3</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B47A"/>
                    </a:solidFill>
                  </a:tcPr>
                </a:tc>
                <a:tc>
                  <a:txBody>
                    <a:bodyPr/>
                    <a:lstStyle/>
                    <a:p>
                      <a:pPr algn="ctr" indent="0" marL="0">
                        <a:buNone/>
                      </a:pPr>
                      <a:r>
                        <a:rPr lang="en-US" sz="1100" dirty="0">
                          <a:solidFill>
                            <a:srgbClr val="1E1A17"/>
                          </a:solidFill>
                        </a:rPr>
                        <a:t>1</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FE2"/>
                    </a:solidFill>
                  </a:tcPr>
                </a:tc>
                <a:tc>
                  <a:txBody>
                    <a:bodyPr/>
                    <a:lstStyle/>
                    <a:p>
                      <a:pPr algn="ctr" indent="0" marL="0">
                        <a:buNone/>
                      </a:pPr>
                      <a:r>
                        <a:rPr lang="en-US" sz="1100" dirty="0">
                          <a:solidFill>
                            <a:srgbClr val="1E1A17"/>
                          </a:solidFill>
                        </a:rPr>
                        <a:t>3</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B47A"/>
                    </a:solidFill>
                  </a:tcPr>
                </a:tc>
                <a:tc>
                  <a:txBody>
                    <a:bodyPr/>
                    <a:lstStyle/>
                    <a:p>
                      <a:pPr algn="ctr" indent="0" marL="0">
                        <a:buNone/>
                      </a:pPr>
                      <a:r>
                        <a:rPr lang="en-US" sz="1100" dirty="0">
                          <a:solidFill>
                            <a:srgbClr val="1E1A17"/>
                          </a:solidFill>
                        </a:rPr>
                        <a:t>2</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AD5B0"/>
                    </a:solidFill>
                  </a:tcPr>
                </a:tc>
                <a:tc>
                  <a:txBody>
                    <a:bodyPr/>
                    <a:lstStyle/>
                    <a:p>
                      <a:pPr algn="ctr" indent="0" marL="0">
                        <a:buNone/>
                      </a:pPr>
                      <a:r>
                        <a:rPr lang="en-US" sz="1100" dirty="0">
                          <a:solidFill>
                            <a:srgbClr val="1E1A17"/>
                          </a:solidFill>
                        </a:rPr>
                        <a:t>3</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B47A"/>
                    </a:solidFill>
                  </a:tcPr>
                </a:tc>
                <a:tc>
                  <a:txBody>
                    <a:bodyPr/>
                    <a:lstStyle/>
                    <a:p>
                      <a:pPr algn="ctr" indent="0" marL="0">
                        <a:buNone/>
                      </a:pPr>
                      <a:r>
                        <a:rPr lang="en-US" sz="1100" dirty="0">
                          <a:solidFill>
                            <a:srgbClr val="1E1A17"/>
                          </a:solidFill>
                        </a:rPr>
                        <a:t>3</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B47A"/>
                    </a:solidFill>
                  </a:tcPr>
                </a:tc>
                <a:tc>
                  <a:txBody>
                    <a:bodyPr/>
                    <a:lstStyle/>
                    <a:p>
                      <a:pPr algn="ctr" indent="0" marL="0">
                        <a:buNone/>
                      </a:pPr>
                      <a:r>
                        <a:rPr lang="en-US" sz="1100" dirty="0">
                          <a:solidFill>
                            <a:srgbClr val="1E1A17"/>
                          </a:solidFill>
                        </a:rPr>
                        <a:t>3</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B47A"/>
                    </a:solidFill>
                  </a:tcPr>
                </a:tc>
                <a:tc>
                  <a:txBody>
                    <a:bodyPr/>
                    <a:lstStyle/>
                    <a:p>
                      <a:pPr algn="ctr" indent="0" marL="0">
                        <a:buNone/>
                      </a:pPr>
                      <a:r>
                        <a:rPr lang="en-US" sz="1100" dirty="0">
                          <a:solidFill>
                            <a:srgbClr val="1E1A17"/>
                          </a:solidFill>
                        </a:rPr>
                        <a:t>3</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B47A"/>
                    </a:solidFill>
                  </a:tcPr>
                </a:tc>
                <a:tc>
                  <a:txBody>
                    <a:bodyPr/>
                    <a:lstStyle/>
                    <a:p>
                      <a:pPr algn="ctr" indent="0" marL="0">
                        <a:buNone/>
                      </a:pPr>
                      <a:r>
                        <a:rPr lang="en-US" sz="1100" b="1" dirty="0">
                          <a:solidFill>
                            <a:schemeClr val="tx2"/>
                          </a:solidFill>
                        </a:rPr>
                        <a:t>5.7</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tx2"/>
                          </a:solidFill>
                        </a:rPr>
                        <a:t>6.0</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tx2"/>
                          </a:solidFill>
                        </a:rPr>
                        <a:t>5.8</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r h="365760">
                <a:tc>
                  <a:txBody>
                    <a:bodyPr/>
                    <a:lstStyle/>
                    <a:p>
                      <a:pPr indent="0" marL="0">
                        <a:buNone/>
                      </a:pPr>
                      <a:r>
                        <a:rPr lang="en-US" sz="1100" b="1" dirty="0">
                          <a:solidFill>
                            <a:schemeClr val="tx2"/>
                          </a:solidFill>
                        </a:rPr>
                        <a:t>Meesho</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dirty="0">
                          <a:solidFill>
                            <a:srgbClr val="1E1A17"/>
                          </a:solidFill>
                        </a:rPr>
                        <a:t>1</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FE2"/>
                    </a:solidFill>
                  </a:tcPr>
                </a:tc>
                <a:tc>
                  <a:txBody>
                    <a:bodyPr/>
                    <a:lstStyle/>
                    <a:p>
                      <a:pPr algn="ctr" indent="0" marL="0">
                        <a:buNone/>
                      </a:pPr>
                      <a:r>
                        <a:rPr lang="en-US" sz="1100" dirty="0">
                          <a:solidFill>
                            <a:srgbClr val="1E1A17"/>
                          </a:solidFill>
                        </a:rPr>
                        <a:t>4</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8A3D"/>
                    </a:solidFill>
                  </a:tcPr>
                </a:tc>
                <a:tc>
                  <a:txBody>
                    <a:bodyPr/>
                    <a:lstStyle/>
                    <a:p>
                      <a:pPr algn="ctr" indent="0" marL="0">
                        <a:buNone/>
                      </a:pPr>
                      <a:r>
                        <a:rPr lang="en-US" sz="1100" dirty="0">
                          <a:solidFill>
                            <a:srgbClr val="1E1A17"/>
                          </a:solidFill>
                        </a:rPr>
                        <a:t>3</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4B47A"/>
                    </a:solidFill>
                  </a:tcPr>
                </a:tc>
                <a:tc>
                  <a:txBody>
                    <a:bodyPr/>
                    <a:lstStyle/>
                    <a:p>
                      <a:pPr algn="ctr" indent="0" marL="0">
                        <a:buNone/>
                      </a:pPr>
                      <a:r>
                        <a:rPr lang="en-US" sz="1100" dirty="0">
                          <a:solidFill>
                            <a:srgbClr val="1E1A17"/>
                          </a:solidFill>
                        </a:rPr>
                        <a:t>2</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AD5B0"/>
                    </a:solidFill>
                  </a:tcPr>
                </a:tc>
                <a:tc>
                  <a:txBody>
                    <a:bodyPr/>
                    <a:lstStyle/>
                    <a:p>
                      <a:pPr algn="ctr" indent="0" marL="0">
                        <a:buNone/>
                      </a:pPr>
                      <a:r>
                        <a:rPr lang="en-US" sz="1100" dirty="0">
                          <a:solidFill>
                            <a:srgbClr val="1E1A17"/>
                          </a:solidFill>
                        </a:rPr>
                        <a:t>4</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8A3D"/>
                    </a:solidFill>
                  </a:tcPr>
                </a:tc>
                <a:tc>
                  <a:txBody>
                    <a:bodyPr/>
                    <a:lstStyle/>
                    <a:p>
                      <a:pPr algn="ctr" indent="0" marL="0">
                        <a:buNone/>
                      </a:pPr>
                      <a:r>
                        <a:rPr lang="en-US" sz="1100" dirty="0">
                          <a:solidFill>
                            <a:srgbClr val="1E1A17"/>
                          </a:solidFill>
                        </a:rPr>
                        <a:t>1</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FE2"/>
                    </a:solidFill>
                  </a:tcPr>
                </a:tc>
                <a:tc>
                  <a:txBody>
                    <a:bodyPr/>
                    <a:lstStyle/>
                    <a:p>
                      <a:pPr algn="ctr" indent="0" marL="0">
                        <a:buNone/>
                      </a:pPr>
                      <a:r>
                        <a:rPr lang="en-US" sz="1100" dirty="0">
                          <a:solidFill>
                            <a:srgbClr val="1E1A17"/>
                          </a:solidFill>
                        </a:rPr>
                        <a:t>1</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FDEFE2"/>
                    </a:solidFill>
                  </a:tcPr>
                </a:tc>
                <a:tc>
                  <a:txBody>
                    <a:bodyPr/>
                    <a:lstStyle/>
                    <a:p>
                      <a:pPr algn="ctr" indent="0" marL="0">
                        <a:buNone/>
                      </a:pPr>
                      <a:r>
                        <a:rPr lang="en-US" sz="1100" dirty="0">
                          <a:solidFill>
                            <a:srgbClr val="FFFFFF"/>
                          </a:solidFill>
                        </a:rPr>
                        <a:t>5</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C9570C"/>
                    </a:solidFill>
                  </a:tcPr>
                </a:tc>
                <a:tc>
                  <a:txBody>
                    <a:bodyPr/>
                    <a:lstStyle/>
                    <a:p>
                      <a:pPr algn="ctr" indent="0" marL="0">
                        <a:buNone/>
                      </a:pPr>
                      <a:r>
                        <a:rPr lang="en-US" sz="1100" dirty="0">
                          <a:solidFill>
                            <a:srgbClr val="1E1A17"/>
                          </a:solidFill>
                        </a:rPr>
                        <a:t>4</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8A3D"/>
                    </a:solidFill>
                  </a:tcPr>
                </a:tc>
                <a:tc>
                  <a:txBody>
                    <a:bodyPr/>
                    <a:lstStyle/>
                    <a:p>
                      <a:pPr algn="ctr" indent="0" marL="0">
                        <a:buNone/>
                      </a:pPr>
                      <a:r>
                        <a:rPr lang="en-US" sz="1100" b="1" dirty="0">
                          <a:solidFill>
                            <a:schemeClr val="tx2"/>
                          </a:solidFill>
                        </a:rPr>
                        <a:t>5.2</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tx2"/>
                          </a:solidFill>
                        </a:rPr>
                        <a:t>6.4</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tx2"/>
                          </a:solidFill>
                        </a:rPr>
                        <a:t>5.7</a:t>
                      </a:r>
                      <a:endParaRPr lang="en-US" sz="1100" dirty="0"/>
                    </a:p>
                  </a:txBody>
                  <a:tcPr marL="36576" marR="36576" marT="18288" marB="18288"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548640" y="6035040"/>
            <a:ext cx="11064240" cy="274320"/>
          </a:xfrm>
          <a:prstGeom prst="rect">
            <a:avLst/>
          </a:prstGeom>
          <a:noFill/>
          <a:ln/>
        </p:spPr>
        <p:txBody>
          <a:bodyPr wrap="square" lIns="0" tIns="0" rIns="0" bIns="0" rtlCol="0" anchor="t"/>
          <a:lstStyle/>
          <a:p>
            <a:pPr indent="0" marL="0">
              <a:buNone/>
            </a:pPr>
            <a:r>
              <a:rPr lang="en-US" sz="1000" dirty="0">
                <a:solidFill>
                  <a:schemeClr val="accent4"/>
                </a:solidFill>
              </a:rPr>
              <a:t>Proposition criteria: first six columns · Market-strength criteria: next three · Prop., Market and Overall are out of 10 · Overall = 60% proposition + 40% market strength</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Six ways GoKesari is different</a:t>
            </a:r>
            <a:endParaRPr lang="en-US" sz="3200" dirty="0"/>
          </a:p>
        </p:txBody>
      </p:sp>
      <p:sp>
        <p:nvSpPr>
          <p:cNvPr id="4" name="Shape 1"/>
          <p:cNvSpPr/>
          <p:nvPr/>
        </p:nvSpPr>
        <p:spPr>
          <a:xfrm>
            <a:off x="548640" y="1280160"/>
            <a:ext cx="3566160" cy="2286000"/>
          </a:xfrm>
          <a:prstGeom prst="roundRect">
            <a:avLst>
              <a:gd name="adj" fmla="val 3200"/>
            </a:avLst>
          </a:prstGeom>
          <a:solidFill>
            <a:schemeClr val="bg2"/>
          </a:solidFill>
          <a:ln/>
        </p:spPr>
      </p:sp>
      <p:sp>
        <p:nvSpPr>
          <p:cNvPr id="5" name="Shape 2"/>
          <p:cNvSpPr/>
          <p:nvPr/>
        </p:nvSpPr>
        <p:spPr>
          <a:xfrm>
            <a:off x="777240" y="1508760"/>
            <a:ext cx="594360" cy="594360"/>
          </a:xfrm>
          <a:prstGeom prst="ellipse">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919886" y="1651406"/>
            <a:ext cx="309067" cy="309067"/>
          </a:xfrm>
          <a:prstGeom prst="rect">
            <a:avLst/>
          </a:prstGeom>
        </p:spPr>
      </p:pic>
      <p:sp>
        <p:nvSpPr>
          <p:cNvPr id="7" name="Text 3"/>
          <p:cNvSpPr txBox="1"/>
          <p:nvPr/>
        </p:nvSpPr>
        <p:spPr>
          <a:xfrm>
            <a:off x="1508760" y="1508760"/>
            <a:ext cx="2423160" cy="594360"/>
          </a:xfrm>
          <a:prstGeom prst="rect">
            <a:avLst/>
          </a:prstGeom>
          <a:noFill/>
          <a:ln/>
        </p:spPr>
        <p:txBody>
          <a:bodyPr wrap="square" lIns="0" tIns="0" rIns="0" bIns="0" rtlCol="0" anchor="ctr"/>
          <a:lstStyle/>
          <a:p>
            <a:pPr indent="0" marL="0">
              <a:buNone/>
            </a:pPr>
            <a:r>
              <a:rPr lang="en-US" sz="1600" b="1" dirty="0">
                <a:solidFill>
                  <a:schemeClr val="tx2"/>
                </a:solidFill>
              </a:rPr>
              <a:t>Your local shop, not a dark store</a:t>
            </a:r>
            <a:endParaRPr lang="en-US" sz="1600" dirty="0"/>
          </a:p>
        </p:txBody>
      </p:sp>
      <p:sp>
        <p:nvSpPr>
          <p:cNvPr id="8" name="Text 4"/>
          <p:cNvSpPr txBox="1"/>
          <p:nvPr/>
        </p:nvSpPr>
        <p:spPr>
          <a:xfrm>
            <a:off x="777240" y="2240280"/>
            <a:ext cx="3108960" cy="1188720"/>
          </a:xfrm>
          <a:prstGeom prst="rect">
            <a:avLst/>
          </a:prstGeom>
          <a:noFill/>
          <a:ln/>
        </p:spPr>
        <p:txBody>
          <a:bodyPr wrap="square" lIns="0" tIns="0" rIns="0" bIns="0" rtlCol="0" anchor="t"/>
          <a:lstStyle/>
          <a:p>
            <a:pPr indent="0" marL="0">
              <a:buNone/>
            </a:pPr>
            <a:r>
              <a:rPr lang="en-US" sz="1400" dirty="0">
                <a:solidFill>
                  <a:schemeClr val="tx1"/>
                </a:solidFill>
              </a:rPr>
              <a:t>Customers pick from nearby dairies, bakeries and kiranas, with shops within 1, 3, 5 or 10 km found by GPS. 45 shop types supported.</a:t>
            </a:r>
            <a:endParaRPr lang="en-US" sz="1400" dirty="0"/>
          </a:p>
        </p:txBody>
      </p:sp>
      <p:sp>
        <p:nvSpPr>
          <p:cNvPr id="9" name="Shape 5"/>
          <p:cNvSpPr/>
          <p:nvPr/>
        </p:nvSpPr>
        <p:spPr>
          <a:xfrm>
            <a:off x="4297680" y="1280160"/>
            <a:ext cx="3566160" cy="2286000"/>
          </a:xfrm>
          <a:prstGeom prst="roundRect">
            <a:avLst>
              <a:gd name="adj" fmla="val 3200"/>
            </a:avLst>
          </a:prstGeom>
          <a:solidFill>
            <a:schemeClr val="bg2"/>
          </a:solidFill>
          <a:ln/>
        </p:spPr>
      </p:sp>
      <p:sp>
        <p:nvSpPr>
          <p:cNvPr id="10" name="Shape 6"/>
          <p:cNvSpPr/>
          <p:nvPr/>
        </p:nvSpPr>
        <p:spPr>
          <a:xfrm>
            <a:off x="4526280" y="1508760"/>
            <a:ext cx="594360" cy="594360"/>
          </a:xfrm>
          <a:prstGeom prst="ellipse">
            <a:avLst/>
          </a:prstGeom>
          <a:solidFill>
            <a:schemeClr val="accent1"/>
          </a:solidFill>
          <a:ln/>
        </p:spPr>
      </p:sp>
      <p:pic>
        <p:nvPicPr>
          <p:cNvPr id="11" name="Image 1" descr="preencoded.png">    </p:cNvPr>
          <p:cNvPicPr>
            <a:picLocks noChangeAspect="1"/>
          </p:cNvPicPr>
          <p:nvPr/>
        </p:nvPicPr>
        <p:blipFill>
          <a:blip r:embed="rId2"/>
          <a:stretch>
            <a:fillRect/>
          </a:stretch>
        </p:blipFill>
        <p:spPr>
          <a:xfrm>
            <a:off x="4668926" y="1651406"/>
            <a:ext cx="309067" cy="309067"/>
          </a:xfrm>
          <a:prstGeom prst="rect">
            <a:avLst/>
          </a:prstGeom>
        </p:spPr>
      </p:pic>
      <p:sp>
        <p:nvSpPr>
          <p:cNvPr id="12" name="Text 7"/>
          <p:cNvSpPr txBox="1"/>
          <p:nvPr/>
        </p:nvSpPr>
        <p:spPr>
          <a:xfrm>
            <a:off x="5257800" y="1508760"/>
            <a:ext cx="2423160" cy="594360"/>
          </a:xfrm>
          <a:prstGeom prst="rect">
            <a:avLst/>
          </a:prstGeom>
          <a:noFill/>
          <a:ln/>
        </p:spPr>
        <p:txBody>
          <a:bodyPr wrap="square" lIns="0" tIns="0" rIns="0" bIns="0" rtlCol="0" anchor="ctr"/>
          <a:lstStyle/>
          <a:p>
            <a:pPr indent="0" marL="0">
              <a:buNone/>
            </a:pPr>
            <a:r>
              <a:rPr lang="en-US" sz="1600" b="1" dirty="0">
                <a:solidFill>
                  <a:schemeClr val="tx2"/>
                </a:solidFill>
              </a:rPr>
              <a:t>The most flexible daily subscription</a:t>
            </a:r>
            <a:endParaRPr lang="en-US" sz="1600" dirty="0"/>
          </a:p>
        </p:txBody>
      </p:sp>
      <p:sp>
        <p:nvSpPr>
          <p:cNvPr id="13" name="Text 8"/>
          <p:cNvSpPr txBox="1"/>
          <p:nvPr/>
        </p:nvSpPr>
        <p:spPr>
          <a:xfrm>
            <a:off x="4526280" y="2240280"/>
            <a:ext cx="3108960" cy="1188720"/>
          </a:xfrm>
          <a:prstGeom prst="rect">
            <a:avLst/>
          </a:prstGeom>
          <a:noFill/>
          <a:ln/>
        </p:spPr>
        <p:txBody>
          <a:bodyPr wrap="square" lIns="0" tIns="0" rIns="0" bIns="0" rtlCol="0" anchor="t"/>
          <a:lstStyle/>
          <a:p>
            <a:pPr indent="0" marL="0">
              <a:buNone/>
            </a:pPr>
            <a:r>
              <a:rPr lang="en-US" sz="1400" dirty="0">
                <a:solidFill>
                  <a:schemeClr val="tx1"/>
                </a:solidFill>
              </a:rPr>
              <a:t>Change quantity in ±0.5 L steps for one date, skip a day or pause a range; it reverts on its own. Cut-off 8 PM. No double charge, ever.</a:t>
            </a:r>
            <a:endParaRPr lang="en-US" sz="1400" dirty="0"/>
          </a:p>
        </p:txBody>
      </p:sp>
      <p:sp>
        <p:nvSpPr>
          <p:cNvPr id="14" name="Shape 9"/>
          <p:cNvSpPr/>
          <p:nvPr/>
        </p:nvSpPr>
        <p:spPr>
          <a:xfrm>
            <a:off x="8046720" y="1280160"/>
            <a:ext cx="3566160" cy="2286000"/>
          </a:xfrm>
          <a:prstGeom prst="roundRect">
            <a:avLst>
              <a:gd name="adj" fmla="val 3200"/>
            </a:avLst>
          </a:prstGeom>
          <a:solidFill>
            <a:schemeClr val="bg2"/>
          </a:solidFill>
          <a:ln/>
        </p:spPr>
      </p:sp>
      <p:sp>
        <p:nvSpPr>
          <p:cNvPr id="15" name="Shape 10"/>
          <p:cNvSpPr/>
          <p:nvPr/>
        </p:nvSpPr>
        <p:spPr>
          <a:xfrm>
            <a:off x="8275320" y="1508760"/>
            <a:ext cx="594360" cy="594360"/>
          </a:xfrm>
          <a:prstGeom prst="ellipse">
            <a:avLst/>
          </a:prstGeom>
          <a:solidFill>
            <a:schemeClr val="accent2"/>
          </a:solidFill>
          <a:ln/>
        </p:spPr>
      </p:sp>
      <p:pic>
        <p:nvPicPr>
          <p:cNvPr id="16" name="Image 2" descr="preencoded.png">    </p:cNvPr>
          <p:cNvPicPr>
            <a:picLocks noChangeAspect="1"/>
          </p:cNvPicPr>
          <p:nvPr/>
        </p:nvPicPr>
        <p:blipFill>
          <a:blip r:embed="rId3"/>
          <a:stretch>
            <a:fillRect/>
          </a:stretch>
        </p:blipFill>
        <p:spPr>
          <a:xfrm>
            <a:off x="8417966" y="1651406"/>
            <a:ext cx="309067" cy="309067"/>
          </a:xfrm>
          <a:prstGeom prst="rect">
            <a:avLst/>
          </a:prstGeom>
        </p:spPr>
      </p:pic>
      <p:sp>
        <p:nvSpPr>
          <p:cNvPr id="17" name="Text 11"/>
          <p:cNvSpPr txBox="1"/>
          <p:nvPr/>
        </p:nvSpPr>
        <p:spPr>
          <a:xfrm>
            <a:off x="9006840" y="1508760"/>
            <a:ext cx="2423160" cy="594360"/>
          </a:xfrm>
          <a:prstGeom prst="rect">
            <a:avLst/>
          </a:prstGeom>
          <a:noFill/>
          <a:ln/>
        </p:spPr>
        <p:txBody>
          <a:bodyPr wrap="square" lIns="0" tIns="0" rIns="0" bIns="0" rtlCol="0" anchor="ctr"/>
          <a:lstStyle/>
          <a:p>
            <a:pPr indent="0" marL="0">
              <a:buNone/>
            </a:pPr>
            <a:r>
              <a:rPr lang="en-US" sz="1600" b="1" dirty="0">
                <a:solidFill>
                  <a:schemeClr val="tx2"/>
                </a:solidFill>
              </a:rPr>
              <a:t>Kesari / Green shop grades</a:t>
            </a:r>
            <a:endParaRPr lang="en-US" sz="1600" dirty="0"/>
          </a:p>
        </p:txBody>
      </p:sp>
      <p:sp>
        <p:nvSpPr>
          <p:cNvPr id="18" name="Text 12"/>
          <p:cNvSpPr txBox="1"/>
          <p:nvPr/>
        </p:nvSpPr>
        <p:spPr>
          <a:xfrm>
            <a:off x="8275320" y="2240280"/>
            <a:ext cx="3108960" cy="1188720"/>
          </a:xfrm>
          <a:prstGeom prst="rect">
            <a:avLst/>
          </a:prstGeom>
          <a:noFill/>
          <a:ln/>
        </p:spPr>
        <p:txBody>
          <a:bodyPr wrap="square" lIns="0" tIns="0" rIns="0" bIns="0" rtlCol="0" anchor="t"/>
          <a:lstStyle/>
          <a:p>
            <a:pPr indent="0" marL="0">
              <a:buNone/>
            </a:pPr>
            <a:r>
              <a:rPr lang="en-US" sz="1400" dirty="0">
                <a:solidFill>
                  <a:schemeClr val="tx1"/>
                </a:solidFill>
              </a:rPr>
              <a:t>Operators grade every shop and customers see the badge. PAN, GSTIN, FSSAI, Udyam and Shop Act are checked. No competitor shows a shop grade.</a:t>
            </a:r>
            <a:endParaRPr lang="en-US" sz="1400" dirty="0"/>
          </a:p>
        </p:txBody>
      </p:sp>
      <p:sp>
        <p:nvSpPr>
          <p:cNvPr id="19" name="Shape 13"/>
          <p:cNvSpPr/>
          <p:nvPr/>
        </p:nvSpPr>
        <p:spPr>
          <a:xfrm>
            <a:off x="548640" y="3840480"/>
            <a:ext cx="3566160" cy="2286000"/>
          </a:xfrm>
          <a:prstGeom prst="roundRect">
            <a:avLst>
              <a:gd name="adj" fmla="val 3200"/>
            </a:avLst>
          </a:prstGeom>
          <a:solidFill>
            <a:schemeClr val="bg2"/>
          </a:solidFill>
          <a:ln/>
        </p:spPr>
      </p:sp>
      <p:sp>
        <p:nvSpPr>
          <p:cNvPr id="20" name="Shape 14"/>
          <p:cNvSpPr/>
          <p:nvPr/>
        </p:nvSpPr>
        <p:spPr>
          <a:xfrm>
            <a:off x="777240" y="4069080"/>
            <a:ext cx="594360" cy="594360"/>
          </a:xfrm>
          <a:prstGeom prst="ellipse">
            <a:avLst/>
          </a:prstGeom>
          <a:solidFill>
            <a:schemeClr val="accent1"/>
          </a:solidFill>
          <a:ln/>
        </p:spPr>
      </p:sp>
      <p:pic>
        <p:nvPicPr>
          <p:cNvPr id="21" name="Image 3" descr="preencoded.png">    </p:cNvPr>
          <p:cNvPicPr>
            <a:picLocks noChangeAspect="1"/>
          </p:cNvPicPr>
          <p:nvPr/>
        </p:nvPicPr>
        <p:blipFill>
          <a:blip r:embed="rId4"/>
          <a:stretch>
            <a:fillRect/>
          </a:stretch>
        </p:blipFill>
        <p:spPr>
          <a:xfrm>
            <a:off x="919886" y="4211726"/>
            <a:ext cx="309067" cy="309067"/>
          </a:xfrm>
          <a:prstGeom prst="rect">
            <a:avLst/>
          </a:prstGeom>
        </p:spPr>
      </p:pic>
      <p:sp>
        <p:nvSpPr>
          <p:cNvPr id="22" name="Text 15"/>
          <p:cNvSpPr txBox="1"/>
          <p:nvPr/>
        </p:nvSpPr>
        <p:spPr>
          <a:xfrm>
            <a:off x="1508760" y="4069080"/>
            <a:ext cx="2423160" cy="594360"/>
          </a:xfrm>
          <a:prstGeom prst="rect">
            <a:avLst/>
          </a:prstGeom>
          <a:noFill/>
          <a:ln/>
        </p:spPr>
        <p:txBody>
          <a:bodyPr wrap="square" lIns="0" tIns="0" rIns="0" bIns="0" rtlCol="0" anchor="ctr"/>
          <a:lstStyle/>
          <a:p>
            <a:pPr indent="0" marL="0">
              <a:buNone/>
            </a:pPr>
            <a:r>
              <a:rPr lang="en-US" sz="1600" b="1" dirty="0">
                <a:solidFill>
                  <a:schemeClr val="tx2"/>
                </a:solidFill>
              </a:rPr>
              <a:t>Honest prices, no hidden fees</a:t>
            </a:r>
            <a:endParaRPr lang="en-US" sz="1600" dirty="0"/>
          </a:p>
        </p:txBody>
      </p:sp>
      <p:sp>
        <p:nvSpPr>
          <p:cNvPr id="23" name="Text 16"/>
          <p:cNvSpPr txBox="1"/>
          <p:nvPr/>
        </p:nvSpPr>
        <p:spPr>
          <a:xfrm>
            <a:off x="777240" y="4800600"/>
            <a:ext cx="3108960" cy="1188720"/>
          </a:xfrm>
          <a:prstGeom prst="rect">
            <a:avLst/>
          </a:prstGeom>
          <a:noFill/>
          <a:ln/>
        </p:spPr>
        <p:txBody>
          <a:bodyPr wrap="square" lIns="0" tIns="0" rIns="0" bIns="0" rtlCol="0" anchor="t"/>
          <a:lstStyle/>
          <a:p>
            <a:pPr indent="0" marL="0">
              <a:buNone/>
            </a:pPr>
            <a:r>
              <a:rPr lang="en-US" sz="1400" dirty="0">
                <a:solidFill>
                  <a:schemeClr val="tx1"/>
                </a:solidFill>
              </a:rPr>
              <a:t>No platform, handling or small-cart fee. Prices above MRP are blocked. One product's price is compared across nearby shops.</a:t>
            </a:r>
            <a:endParaRPr lang="en-US" sz="1400" dirty="0"/>
          </a:p>
        </p:txBody>
      </p:sp>
      <p:sp>
        <p:nvSpPr>
          <p:cNvPr id="24" name="Shape 17"/>
          <p:cNvSpPr/>
          <p:nvPr/>
        </p:nvSpPr>
        <p:spPr>
          <a:xfrm>
            <a:off x="4297680" y="3840480"/>
            <a:ext cx="3566160" cy="2286000"/>
          </a:xfrm>
          <a:prstGeom prst="roundRect">
            <a:avLst>
              <a:gd name="adj" fmla="val 3200"/>
            </a:avLst>
          </a:prstGeom>
          <a:solidFill>
            <a:schemeClr val="bg2"/>
          </a:solidFill>
          <a:ln/>
        </p:spPr>
      </p:sp>
      <p:sp>
        <p:nvSpPr>
          <p:cNvPr id="25" name="Shape 18"/>
          <p:cNvSpPr/>
          <p:nvPr/>
        </p:nvSpPr>
        <p:spPr>
          <a:xfrm>
            <a:off x="4526280" y="4069080"/>
            <a:ext cx="594360" cy="594360"/>
          </a:xfrm>
          <a:prstGeom prst="ellipse">
            <a:avLst/>
          </a:prstGeom>
          <a:solidFill>
            <a:schemeClr val="accent1"/>
          </a:solidFill>
          <a:ln/>
        </p:spPr>
      </p:sp>
      <p:pic>
        <p:nvPicPr>
          <p:cNvPr id="26" name="Image 4" descr="preencoded.png">    </p:cNvPr>
          <p:cNvPicPr>
            <a:picLocks noChangeAspect="1"/>
          </p:cNvPicPr>
          <p:nvPr/>
        </p:nvPicPr>
        <p:blipFill>
          <a:blip r:embed="rId5"/>
          <a:stretch>
            <a:fillRect/>
          </a:stretch>
        </p:blipFill>
        <p:spPr>
          <a:xfrm>
            <a:off x="4668926" y="4211726"/>
            <a:ext cx="309067" cy="309067"/>
          </a:xfrm>
          <a:prstGeom prst="rect">
            <a:avLst/>
          </a:prstGeom>
        </p:spPr>
      </p:pic>
      <p:sp>
        <p:nvSpPr>
          <p:cNvPr id="27" name="Text 19"/>
          <p:cNvSpPr txBox="1"/>
          <p:nvPr/>
        </p:nvSpPr>
        <p:spPr>
          <a:xfrm>
            <a:off x="5257800" y="4069080"/>
            <a:ext cx="2423160" cy="594360"/>
          </a:xfrm>
          <a:prstGeom prst="rect">
            <a:avLst/>
          </a:prstGeom>
          <a:noFill/>
          <a:ln/>
        </p:spPr>
        <p:txBody>
          <a:bodyPr wrap="square" lIns="0" tIns="0" rIns="0" bIns="0" rtlCol="0" anchor="ctr"/>
          <a:lstStyle/>
          <a:p>
            <a:pPr indent="0" marL="0">
              <a:buNone/>
            </a:pPr>
            <a:r>
              <a:rPr lang="en-US" sz="1600" b="1" dirty="0">
                <a:solidFill>
                  <a:schemeClr val="tx2"/>
                </a:solidFill>
              </a:rPr>
              <a:t>1% commission for shops</a:t>
            </a:r>
            <a:endParaRPr lang="en-US" sz="1600" dirty="0"/>
          </a:p>
        </p:txBody>
      </p:sp>
      <p:sp>
        <p:nvSpPr>
          <p:cNvPr id="28" name="Text 20"/>
          <p:cNvSpPr txBox="1"/>
          <p:nvPr/>
        </p:nvSpPr>
        <p:spPr>
          <a:xfrm>
            <a:off x="4526280" y="4800600"/>
            <a:ext cx="3108960" cy="1188720"/>
          </a:xfrm>
          <a:prstGeom prst="rect">
            <a:avLst/>
          </a:prstGeom>
          <a:noFill/>
          <a:ln/>
        </p:spPr>
        <p:txBody>
          <a:bodyPr wrap="square" lIns="0" tIns="0" rIns="0" bIns="0" rtlCol="0" anchor="t"/>
          <a:lstStyle/>
          <a:p>
            <a:pPr indent="0" marL="0">
              <a:buNone/>
            </a:pPr>
            <a:r>
              <a:rPr lang="en-US" sz="1400" dirty="0">
                <a:solidFill>
                  <a:schemeClr val="tx1"/>
                </a:solidFill>
              </a:rPr>
              <a:t>Against 0% for Meesho and much higher margins for inventory-led quick commerce. Free tools: Tally/Zoho sync, GST files, stock and books.</a:t>
            </a:r>
            <a:endParaRPr lang="en-US" sz="1400" dirty="0"/>
          </a:p>
        </p:txBody>
      </p:sp>
      <p:sp>
        <p:nvSpPr>
          <p:cNvPr id="29" name="Shape 21"/>
          <p:cNvSpPr/>
          <p:nvPr/>
        </p:nvSpPr>
        <p:spPr>
          <a:xfrm>
            <a:off x="8046720" y="3840480"/>
            <a:ext cx="3566160" cy="2286000"/>
          </a:xfrm>
          <a:prstGeom prst="roundRect">
            <a:avLst>
              <a:gd name="adj" fmla="val 3200"/>
            </a:avLst>
          </a:prstGeom>
          <a:solidFill>
            <a:schemeClr val="bg2"/>
          </a:solidFill>
          <a:ln/>
        </p:spPr>
      </p:sp>
      <p:sp>
        <p:nvSpPr>
          <p:cNvPr id="30" name="Shape 22"/>
          <p:cNvSpPr/>
          <p:nvPr/>
        </p:nvSpPr>
        <p:spPr>
          <a:xfrm>
            <a:off x="8275320" y="4069080"/>
            <a:ext cx="594360" cy="594360"/>
          </a:xfrm>
          <a:prstGeom prst="ellipse">
            <a:avLst/>
          </a:prstGeom>
          <a:solidFill>
            <a:schemeClr val="accent1"/>
          </a:solidFill>
          <a:ln/>
        </p:spPr>
      </p:sp>
      <p:pic>
        <p:nvPicPr>
          <p:cNvPr id="31" name="Image 5" descr="preencoded.png">    </p:cNvPr>
          <p:cNvPicPr>
            <a:picLocks noChangeAspect="1"/>
          </p:cNvPicPr>
          <p:nvPr/>
        </p:nvPicPr>
        <p:blipFill>
          <a:blip r:embed="rId6"/>
          <a:stretch>
            <a:fillRect/>
          </a:stretch>
        </p:blipFill>
        <p:spPr>
          <a:xfrm>
            <a:off x="8417966" y="4211726"/>
            <a:ext cx="309067" cy="309067"/>
          </a:xfrm>
          <a:prstGeom prst="rect">
            <a:avLst/>
          </a:prstGeom>
        </p:spPr>
      </p:pic>
      <p:sp>
        <p:nvSpPr>
          <p:cNvPr id="32" name="Text 23"/>
          <p:cNvSpPr txBox="1"/>
          <p:nvPr/>
        </p:nvSpPr>
        <p:spPr>
          <a:xfrm>
            <a:off x="9006840" y="4069080"/>
            <a:ext cx="2423160" cy="594360"/>
          </a:xfrm>
          <a:prstGeom prst="rect">
            <a:avLst/>
          </a:prstGeom>
          <a:noFill/>
          <a:ln/>
        </p:spPr>
        <p:txBody>
          <a:bodyPr wrap="square" lIns="0" tIns="0" rIns="0" bIns="0" rtlCol="0" anchor="ctr"/>
          <a:lstStyle/>
          <a:p>
            <a:pPr indent="0" marL="0">
              <a:buNone/>
            </a:pPr>
            <a:r>
              <a:rPr lang="en-US" sz="1600" b="1" dirty="0">
                <a:solidFill>
                  <a:schemeClr val="tx2"/>
                </a:solidFill>
              </a:rPr>
              <a:t>Built for Bharat and societies</a:t>
            </a:r>
            <a:endParaRPr lang="en-US" sz="1600" dirty="0"/>
          </a:p>
        </p:txBody>
      </p:sp>
      <p:sp>
        <p:nvSpPr>
          <p:cNvPr id="33" name="Text 24"/>
          <p:cNvSpPr txBox="1"/>
          <p:nvPr/>
        </p:nvSpPr>
        <p:spPr>
          <a:xfrm>
            <a:off x="8275320" y="4800600"/>
            <a:ext cx="3108960" cy="1188720"/>
          </a:xfrm>
          <a:prstGeom prst="rect">
            <a:avLst/>
          </a:prstGeom>
          <a:noFill/>
          <a:ln/>
        </p:spPr>
        <p:txBody>
          <a:bodyPr wrap="square" lIns="0" tIns="0" rIns="0" bIns="0" rtlCol="0" anchor="t"/>
          <a:lstStyle/>
          <a:p>
            <a:pPr indent="0" marL="0">
              <a:buNone/>
            </a:pPr>
            <a:r>
              <a:rPr lang="en-US" sz="1400" dirty="0">
                <a:solidFill>
                  <a:schemeClr val="tx1"/>
                </a:solidFill>
              </a:rPr>
              <a:t>English, Hindi and Marathi screens, COD and wallet. Housing societies set approved riders and gate instructions for safe delivery.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Head to head with the two dairy-subscription rivals</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560320"/>
                <a:gridCol w="3291840"/>
                <a:gridCol w="2606040"/>
                <a:gridCol w="2606040"/>
              </a:tblGrid>
              <a:tr h="457200">
                <a:tc>
                  <a:txBody>
                    <a:bodyPr/>
                    <a:lstStyle/>
                    <a:p>
                      <a:pPr algn="l" indent="0" marL="0">
                        <a:buNone/>
                      </a:pP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GoKesari</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rPr>
                        <a:t>Country Delight</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BigBasket BB Daily</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tx2"/>
                    </a:solidFill>
                  </a:tcPr>
                </a:tc>
              </a:tr>
              <a:tr h="548640">
                <a:tc>
                  <a:txBody>
                    <a:bodyPr/>
                    <a:lstStyle/>
                    <a:p>
                      <a:pPr algn="l" indent="0" marL="0">
                        <a:buNone/>
                      </a:pPr>
                      <a:r>
                        <a:rPr lang="en-US" sz="1300" b="1" dirty="0">
                          <a:solidFill>
                            <a:schemeClr val="tx2"/>
                          </a:solidFill>
                        </a:rPr>
                        <a:t>Who you buy from</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Your choice of local dairies &amp; bakeries</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DE3C8"/>
                    </a:solidFill>
                  </a:tcPr>
                </a:tc>
                <a:tc>
                  <a:txBody>
                    <a:bodyPr/>
                    <a:lstStyle/>
                    <a:p>
                      <a:pPr algn="l" indent="0" marL="0">
                        <a:buNone/>
                      </a:pPr>
                      <a:r>
                        <a:rPr lang="en-US" sz="1300" dirty="0">
                          <a:solidFill>
                            <a:schemeClr val="tx1"/>
                          </a:solidFill>
                        </a:rPr>
                        <a:t>One own brand</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BigBasket's own stock</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r>
              <a:tr h="548640">
                <a:tc>
                  <a:txBody>
                    <a:bodyPr/>
                    <a:lstStyle/>
                    <a:p>
                      <a:pPr algn="l" indent="0" marL="0">
                        <a:buNone/>
                      </a:pPr>
                      <a:r>
                        <a:rPr lang="en-US" sz="1300" b="1" dirty="0">
                          <a:solidFill>
                            <a:schemeClr val="tx2"/>
                          </a:solidFill>
                        </a:rPr>
                        <a:t>Change quantity for one day</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Yes, ±0.5 L steps; reverts next day</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DE3C8"/>
                    </a:solidFill>
                  </a:tcPr>
                </a:tc>
                <a:tc>
                  <a:txBody>
                    <a:bodyPr/>
                    <a:lstStyle/>
                    <a:p>
                      <a:pPr algn="l" indent="0" marL="0">
                        <a:buNone/>
                      </a:pPr>
                      <a:r>
                        <a:rPr lang="en-US" sz="1300" dirty="0">
                          <a:solidFill>
                            <a:schemeClr val="tx1"/>
                          </a:solidFill>
                        </a:rPr>
                        <a:t>Yes, calendar</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Yes</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r>
              <a:tr h="548640">
                <a:tc>
                  <a:txBody>
                    <a:bodyPr/>
                    <a:lstStyle/>
                    <a:p>
                      <a:pPr algn="l" indent="0" marL="0">
                        <a:buNone/>
                      </a:pPr>
                      <a:r>
                        <a:rPr lang="en-US" sz="1300" b="1" dirty="0">
                          <a:solidFill>
                            <a:schemeClr val="tx2"/>
                          </a:solidFill>
                        </a:rPr>
                        <a:t>Skip / pause</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Per date or a pause window</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DE3C8"/>
                    </a:solidFill>
                  </a:tcPr>
                </a:tc>
                <a:tc>
                  <a:txBody>
                    <a:bodyPr/>
                    <a:lstStyle/>
                    <a:p>
                      <a:pPr algn="l" indent="0" marL="0">
                        <a:buNone/>
                      </a:pPr>
                      <a:r>
                        <a:rPr lang="en-US" sz="1300" dirty="0">
                          <a:solidFill>
                            <a:schemeClr val="tx1"/>
                          </a:solidFill>
                        </a:rPr>
                        <a:t>Vacation mode; VIP pause</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Vacation / pause</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r>
              <a:tr h="548640">
                <a:tc>
                  <a:txBody>
                    <a:bodyPr/>
                    <a:lstStyle/>
                    <a:p>
                      <a:pPr algn="l" indent="0" marL="0">
                        <a:buNone/>
                      </a:pPr>
                      <a:r>
                        <a:rPr lang="en-US" sz="1300" b="1" dirty="0">
                          <a:solidFill>
                            <a:schemeClr val="tx2"/>
                          </a:solidFill>
                        </a:rPr>
                        <a:t>Payment</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Wallet, debited per delivery; no double charge</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DE3C8"/>
                    </a:solidFill>
                  </a:tcPr>
                </a:tc>
                <a:tc>
                  <a:txBody>
                    <a:bodyPr/>
                    <a:lstStyle/>
                    <a:p>
                      <a:pPr algn="l" indent="0" marL="0">
                        <a:buNone/>
                      </a:pPr>
                      <a:r>
                        <a:rPr lang="en-US" sz="1300" dirty="0">
                          <a:solidFill>
                            <a:schemeClr val="tx1"/>
                          </a:solidFill>
                        </a:rPr>
                        <a:t>Prepaid wallet, charged on delivery</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BB wallet recharge needed</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r>
              <a:tr h="548640">
                <a:tc>
                  <a:txBody>
                    <a:bodyPr/>
                    <a:lstStyle/>
                    <a:p>
                      <a:pPr algn="l" indent="0" marL="0">
                        <a:buNone/>
                      </a:pPr>
                      <a:r>
                        <a:rPr lang="en-US" sz="1300" b="1" dirty="0">
                          <a:solidFill>
                            <a:schemeClr val="tx2"/>
                          </a:solidFill>
                        </a:rPr>
                        <a:t>Order cut-off &amp; delivery</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Cut-off 8 PM (set by admin); next-day slot</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DE3C8"/>
                    </a:solidFill>
                  </a:tcPr>
                </a:tc>
                <a:tc>
                  <a:txBody>
                    <a:bodyPr/>
                    <a:lstStyle/>
                    <a:p>
                      <a:pPr algn="l" indent="0" marL="0">
                        <a:buNone/>
                      </a:pPr>
                      <a:r>
                        <a:rPr lang="en-US" sz="1300" dirty="0">
                          <a:solidFill>
                            <a:schemeClr val="tx1"/>
                          </a:solidFill>
                        </a:rPr>
                        <a:t>Delivered by 7:30 AM</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Order by 10 PM; by 8 AM</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r>
              <a:tr h="548640">
                <a:tc>
                  <a:txBody>
                    <a:bodyPr/>
                    <a:lstStyle/>
                    <a:p>
                      <a:pPr algn="l" indent="0" marL="0">
                        <a:buNone/>
                      </a:pPr>
                      <a:r>
                        <a:rPr lang="en-US" sz="1300" b="1" dirty="0">
                          <a:solidFill>
                            <a:schemeClr val="tx2"/>
                          </a:solidFill>
                        </a:rPr>
                        <a:t>Membership</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None needed</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DE3C8"/>
                    </a:solidFill>
                  </a:tcPr>
                </a:tc>
                <a:tc>
                  <a:txBody>
                    <a:bodyPr/>
                    <a:lstStyle/>
                    <a:p>
                      <a:pPr algn="l" indent="0" marL="0">
                        <a:buNone/>
                      </a:pPr>
                      <a:r>
                        <a:rPr lang="en-US" sz="1300" dirty="0">
                          <a:solidFill>
                            <a:schemeClr val="tx1"/>
                          </a:solidFill>
                        </a:rPr>
                        <a:t>VIP from ₹145 (2024)</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bbStar optional</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r>
              <a:tr h="548640">
                <a:tc>
                  <a:txBody>
                    <a:bodyPr/>
                    <a:lstStyle/>
                    <a:p>
                      <a:pPr algn="l" indent="0" marL="0">
                        <a:buNone/>
                      </a:pPr>
                      <a:r>
                        <a:rPr lang="en-US" sz="1300" b="1" dirty="0">
                          <a:solidFill>
                            <a:schemeClr val="tx2"/>
                          </a:solidFill>
                        </a:rPr>
                        <a:t>Shop grade &amp; licence shown</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Kesari/Green badge + FSSAI on shop page</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DE3C8"/>
                    </a:solidFill>
                  </a:tcPr>
                </a:tc>
                <a:tc>
                  <a:txBody>
                    <a:bodyPr/>
                    <a:lstStyle/>
                    <a:p>
                      <a:pPr algn="l" indent="0" marL="0">
                        <a:buNone/>
                      </a:pPr>
                      <a:r>
                        <a:rPr lang="en-US" sz="1300" dirty="0">
                          <a:solidFill>
                            <a:schemeClr val="tx1"/>
                          </a:solidFill>
                        </a:rPr>
                        <a:t>Own-brand quality claims</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Not shown</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r>
              <a:tr h="548640">
                <a:tc>
                  <a:txBody>
                    <a:bodyPr/>
                    <a:lstStyle/>
                    <a:p>
                      <a:pPr algn="l" indent="0" marL="0">
                        <a:buNone/>
                      </a:pPr>
                      <a:r>
                        <a:rPr lang="en-US" sz="1300" b="1" dirty="0">
                          <a:solidFill>
                            <a:schemeClr val="tx2"/>
                          </a:solidFill>
                        </a:rPr>
                        <a:t>Coverage</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Pune (launch)</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DE3C8"/>
                    </a:solidFill>
                  </a:tcPr>
                </a:tc>
                <a:tc>
                  <a:txBody>
                    <a:bodyPr/>
                    <a:lstStyle/>
                    <a:p>
                      <a:pPr algn="l" indent="0" marL="0">
                        <a:buNone/>
                      </a:pPr>
                      <a:r>
                        <a:rPr lang="en-US" sz="1300" dirty="0">
                          <a:solidFill>
                            <a:schemeClr val="tx1"/>
                          </a:solidFill>
                        </a:rPr>
                        <a:t>15–18 cities</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c>
                  <a:txBody>
                    <a:bodyPr/>
                    <a:lstStyle/>
                    <a:p>
                      <a:pPr algn="l" indent="0" marL="0">
                        <a:buNone/>
                      </a:pPr>
                      <a:r>
                        <a:rPr lang="en-US" sz="1300" dirty="0">
                          <a:solidFill>
                            <a:schemeClr val="tx1"/>
                          </a:solidFill>
                        </a:rPr>
                        <a:t>Shrinking to ~40 cities</a:t>
                      </a:r>
                      <a:endParaRPr lang="en-US" sz="1300" dirty="0"/>
                    </a:p>
                  </a:txBody>
                  <a:tcPr marL="91440" marR="91440" marT="36576" marB="36576"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Why a local shop would rather sell on GoKesari</a:t>
            </a:r>
            <a:endParaRPr lang="en-US" sz="3200" dirty="0"/>
          </a:p>
        </p:txBody>
      </p:sp>
      <p:sp>
        <p:nvSpPr>
          <p:cNvPr id="4" name="Shape 1"/>
          <p:cNvSpPr/>
          <p:nvPr/>
        </p:nvSpPr>
        <p:spPr>
          <a:xfrm>
            <a:off x="548640" y="1325880"/>
            <a:ext cx="3383280" cy="4846320"/>
          </a:xfrm>
          <a:prstGeom prst="roundRect">
            <a:avLst>
              <a:gd name="adj" fmla="val 2162"/>
            </a:avLst>
          </a:prstGeom>
          <a:solidFill>
            <a:schemeClr val="tx2"/>
          </a:solidFill>
          <a:ln/>
        </p:spPr>
      </p:sp>
      <p:sp>
        <p:nvSpPr>
          <p:cNvPr id="5" name="Text 2"/>
          <p:cNvSpPr txBox="1"/>
          <p:nvPr/>
        </p:nvSpPr>
        <p:spPr>
          <a:xfrm>
            <a:off x="822960" y="1600200"/>
            <a:ext cx="2834640" cy="1280160"/>
          </a:xfrm>
          <a:prstGeom prst="rect">
            <a:avLst/>
          </a:prstGeom>
          <a:noFill/>
          <a:ln/>
        </p:spPr>
        <p:txBody>
          <a:bodyPr wrap="square" lIns="0" tIns="0" rIns="0" bIns="0" rtlCol="0" anchor="ctr"/>
          <a:lstStyle/>
          <a:p>
            <a:pPr indent="0" marL="0">
              <a:buNone/>
            </a:pPr>
            <a:r>
              <a:rPr lang="en-US" sz="8000" b="1" dirty="0">
                <a:solidFill>
                  <a:schemeClr val="accent3"/>
                </a:solidFill>
                <a:latin typeface="Cambria" pitchFamily="34" charset="0"/>
                <a:ea typeface="Cambria" pitchFamily="34" charset="-122"/>
                <a:cs typeface="Cambria" pitchFamily="34" charset="-120"/>
              </a:rPr>
              <a:t>1%</a:t>
            </a:r>
            <a:endParaRPr lang="en-US" sz="8000" dirty="0"/>
          </a:p>
        </p:txBody>
      </p:sp>
      <p:sp>
        <p:nvSpPr>
          <p:cNvPr id="6" name="Text 3"/>
          <p:cNvSpPr txBox="1"/>
          <p:nvPr/>
        </p:nvSpPr>
        <p:spPr>
          <a:xfrm>
            <a:off x="822960" y="2926080"/>
            <a:ext cx="2834640" cy="457200"/>
          </a:xfrm>
          <a:prstGeom prst="rect">
            <a:avLst/>
          </a:prstGeom>
          <a:noFill/>
          <a:ln/>
        </p:spPr>
        <p:txBody>
          <a:bodyPr wrap="square" lIns="0" tIns="0" rIns="0" bIns="0" rtlCol="0" anchor="t"/>
          <a:lstStyle/>
          <a:p>
            <a:pPr indent="0" marL="0">
              <a:buNone/>
            </a:pPr>
            <a:r>
              <a:rPr lang="en-US" sz="1600" b="1" dirty="0">
                <a:solidFill>
                  <a:schemeClr val="bg1"/>
                </a:solidFill>
              </a:rPr>
              <a:t>commission on delivered orders</a:t>
            </a:r>
            <a:endParaRPr lang="en-US" sz="1600" dirty="0"/>
          </a:p>
        </p:txBody>
      </p:sp>
      <p:sp>
        <p:nvSpPr>
          <p:cNvPr id="7" name="Text 4"/>
          <p:cNvSpPr txBox="1"/>
          <p:nvPr/>
        </p:nvSpPr>
        <p:spPr>
          <a:xfrm>
            <a:off x="822960" y="3566160"/>
            <a:ext cx="2834640" cy="2377440"/>
          </a:xfrm>
          <a:prstGeom prst="rect">
            <a:avLst/>
          </a:prstGeom>
          <a:noFill/>
          <a:ln/>
        </p:spPr>
        <p:txBody>
          <a:bodyPr wrap="square" lIns="0" tIns="0" rIns="0" bIns="0" rtlCol="0" anchor="t"/>
          <a:lstStyle/>
          <a:p>
            <a:pPr indent="0" marL="0">
              <a:buNone/>
            </a:pPr>
            <a:r>
              <a:rPr lang="en-US" sz="1500" dirty="0">
                <a:solidFill>
                  <a:schemeClr val="bg1"/>
                </a:solidFill>
              </a:rPr>
              <a:t>Quick commerce runs its own dark stores, so the kirana is cut out. Distributors allege ~2 lakh kirana closures. GoKesari puts the kirana back in the order flow.</a:t>
            </a:r>
            <a:endParaRPr lang="en-US" sz="1500" dirty="0"/>
          </a:p>
        </p:txBody>
      </p:sp>
      <p:sp>
        <p:nvSpPr>
          <p:cNvPr id="8" name="Shape 5"/>
          <p:cNvSpPr/>
          <p:nvPr/>
        </p:nvSpPr>
        <p:spPr>
          <a:xfrm>
            <a:off x="4297680" y="1417320"/>
            <a:ext cx="640080" cy="640080"/>
          </a:xfrm>
          <a:prstGeom prst="ellipse">
            <a:avLst/>
          </a:prstGeom>
          <a:solidFill>
            <a:schemeClr val="accent1"/>
          </a:solidFill>
          <a:ln/>
        </p:spPr>
      </p:sp>
      <p:pic>
        <p:nvPicPr>
          <p:cNvPr id="9" name="Image 0" descr="preencoded.png">    </p:cNvPr>
          <p:cNvPicPr>
            <a:picLocks noChangeAspect="1"/>
          </p:cNvPicPr>
          <p:nvPr/>
        </p:nvPicPr>
        <p:blipFill>
          <a:blip r:embed="rId1"/>
          <a:stretch>
            <a:fillRect/>
          </a:stretch>
        </p:blipFill>
        <p:spPr>
          <a:xfrm>
            <a:off x="4451299" y="1570939"/>
            <a:ext cx="332842" cy="332842"/>
          </a:xfrm>
          <a:prstGeom prst="rect">
            <a:avLst/>
          </a:prstGeom>
        </p:spPr>
      </p:pic>
      <p:sp>
        <p:nvSpPr>
          <p:cNvPr id="10" name="Text 6"/>
          <p:cNvSpPr txBox="1"/>
          <p:nvPr/>
        </p:nvSpPr>
        <p:spPr>
          <a:xfrm>
            <a:off x="5120640" y="1325880"/>
            <a:ext cx="6492240" cy="365760"/>
          </a:xfrm>
          <a:prstGeom prst="rect">
            <a:avLst/>
          </a:prstGeom>
          <a:noFill/>
          <a:ln/>
        </p:spPr>
        <p:txBody>
          <a:bodyPr wrap="square" lIns="0" tIns="0" rIns="0" bIns="0" rtlCol="0" anchor="t"/>
          <a:lstStyle/>
          <a:p>
            <a:pPr indent="0" marL="0">
              <a:buNone/>
            </a:pPr>
            <a:r>
              <a:rPr lang="en-US" sz="1700" b="1" dirty="0">
                <a:solidFill>
                  <a:schemeClr val="tx2"/>
                </a:solidFill>
              </a:rPr>
              <a:t>Choice in every order</a:t>
            </a:r>
            <a:endParaRPr lang="en-US" sz="1700" dirty="0"/>
          </a:p>
        </p:txBody>
      </p:sp>
      <p:sp>
        <p:nvSpPr>
          <p:cNvPr id="11" name="Text 7"/>
          <p:cNvSpPr txBox="1"/>
          <p:nvPr/>
        </p:nvSpPr>
        <p:spPr>
          <a:xfrm>
            <a:off x="5120640" y="1709928"/>
            <a:ext cx="6492240" cy="731520"/>
          </a:xfrm>
          <a:prstGeom prst="rect">
            <a:avLst/>
          </a:prstGeom>
          <a:noFill/>
          <a:ln/>
        </p:spPr>
        <p:txBody>
          <a:bodyPr wrap="square" lIns="0" tIns="0" rIns="0" bIns="0" rtlCol="0" anchor="t"/>
          <a:lstStyle/>
          <a:p>
            <a:pPr indent="0" marL="0">
              <a:buNone/>
            </a:pPr>
            <a:r>
              <a:rPr lang="en-US" sz="1400" dirty="0">
                <a:solidFill>
                  <a:schemeClr val="tx1"/>
                </a:solidFill>
              </a:rPr>
              <a:t>Customer pickup with a code, the shop's own delivery person, or a GoKesari rider.</a:t>
            </a:r>
            <a:endParaRPr lang="en-US" sz="1400" dirty="0"/>
          </a:p>
        </p:txBody>
      </p:sp>
      <p:sp>
        <p:nvSpPr>
          <p:cNvPr id="12" name="Shape 8"/>
          <p:cNvSpPr/>
          <p:nvPr/>
        </p:nvSpPr>
        <p:spPr>
          <a:xfrm>
            <a:off x="4297680" y="2651760"/>
            <a:ext cx="640080" cy="640080"/>
          </a:xfrm>
          <a:prstGeom prst="ellipse">
            <a:avLst/>
          </a:prstGeom>
          <a:solidFill>
            <a:schemeClr val="accent1"/>
          </a:solidFill>
          <a:ln/>
        </p:spPr>
      </p:sp>
      <p:pic>
        <p:nvPicPr>
          <p:cNvPr id="13" name="Image 1" descr="preencoded.png">    </p:cNvPr>
          <p:cNvPicPr>
            <a:picLocks noChangeAspect="1"/>
          </p:cNvPicPr>
          <p:nvPr/>
        </p:nvPicPr>
        <p:blipFill>
          <a:blip r:embed="rId2"/>
          <a:stretch>
            <a:fillRect/>
          </a:stretch>
        </p:blipFill>
        <p:spPr>
          <a:xfrm>
            <a:off x="4451299" y="2805379"/>
            <a:ext cx="332842" cy="332842"/>
          </a:xfrm>
          <a:prstGeom prst="rect">
            <a:avLst/>
          </a:prstGeom>
        </p:spPr>
      </p:pic>
      <p:sp>
        <p:nvSpPr>
          <p:cNvPr id="14" name="Text 9"/>
          <p:cNvSpPr txBox="1"/>
          <p:nvPr/>
        </p:nvSpPr>
        <p:spPr>
          <a:xfrm>
            <a:off x="5120640" y="2560320"/>
            <a:ext cx="6492240" cy="365760"/>
          </a:xfrm>
          <a:prstGeom prst="rect">
            <a:avLst/>
          </a:prstGeom>
          <a:noFill/>
          <a:ln/>
        </p:spPr>
        <p:txBody>
          <a:bodyPr wrap="square" lIns="0" tIns="0" rIns="0" bIns="0" rtlCol="0" anchor="t"/>
          <a:lstStyle/>
          <a:p>
            <a:pPr indent="0" marL="0">
              <a:buNone/>
            </a:pPr>
            <a:r>
              <a:rPr lang="en-US" sz="1700" b="1" dirty="0">
                <a:solidFill>
                  <a:schemeClr val="tx2"/>
                </a:solidFill>
              </a:rPr>
              <a:t>Books &amp; GST done for you</a:t>
            </a:r>
            <a:endParaRPr lang="en-US" sz="1700" dirty="0"/>
          </a:p>
        </p:txBody>
      </p:sp>
      <p:sp>
        <p:nvSpPr>
          <p:cNvPr id="15" name="Text 10"/>
          <p:cNvSpPr txBox="1"/>
          <p:nvPr/>
        </p:nvSpPr>
        <p:spPr>
          <a:xfrm>
            <a:off x="5120640" y="2944368"/>
            <a:ext cx="6492240" cy="731520"/>
          </a:xfrm>
          <a:prstGeom prst="rect">
            <a:avLst/>
          </a:prstGeom>
          <a:noFill/>
          <a:ln/>
        </p:spPr>
        <p:txBody>
          <a:bodyPr wrap="square" lIns="0" tIns="0" rIns="0" bIns="0" rtlCol="0" anchor="t"/>
          <a:lstStyle/>
          <a:p>
            <a:pPr indent="0" marL="0">
              <a:buNone/>
            </a:pPr>
            <a:r>
              <a:rPr lang="en-US" sz="1400" dirty="0">
                <a:solidFill>
                  <a:schemeClr val="tx1"/>
                </a:solidFill>
              </a:rPr>
              <a:t>Stock ledger (FIFO), purchase and sales registers, GST invoices, a GSTR-1-ready file and a bill scanner.</a:t>
            </a:r>
            <a:endParaRPr lang="en-US" sz="1400" dirty="0"/>
          </a:p>
        </p:txBody>
      </p:sp>
      <p:sp>
        <p:nvSpPr>
          <p:cNvPr id="16" name="Shape 11"/>
          <p:cNvSpPr/>
          <p:nvPr/>
        </p:nvSpPr>
        <p:spPr>
          <a:xfrm>
            <a:off x="4297680" y="3886200"/>
            <a:ext cx="640080" cy="64008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4451299" y="4039819"/>
            <a:ext cx="332842" cy="332842"/>
          </a:xfrm>
          <a:prstGeom prst="rect">
            <a:avLst/>
          </a:prstGeom>
        </p:spPr>
      </p:pic>
      <p:sp>
        <p:nvSpPr>
          <p:cNvPr id="18" name="Text 12"/>
          <p:cNvSpPr txBox="1"/>
          <p:nvPr/>
        </p:nvSpPr>
        <p:spPr>
          <a:xfrm>
            <a:off x="5120640" y="3794760"/>
            <a:ext cx="6492240" cy="365760"/>
          </a:xfrm>
          <a:prstGeom prst="rect">
            <a:avLst/>
          </a:prstGeom>
          <a:noFill/>
          <a:ln/>
        </p:spPr>
        <p:txBody>
          <a:bodyPr wrap="square" lIns="0" tIns="0" rIns="0" bIns="0" rtlCol="0" anchor="t"/>
          <a:lstStyle/>
          <a:p>
            <a:pPr indent="0" marL="0">
              <a:buNone/>
            </a:pPr>
            <a:r>
              <a:rPr lang="en-US" sz="1700" b="1" dirty="0">
                <a:solidFill>
                  <a:schemeClr val="tx2"/>
                </a:solidFill>
              </a:rPr>
              <a:t>Fits the software shops use</a:t>
            </a:r>
            <a:endParaRPr lang="en-US" sz="1700" dirty="0"/>
          </a:p>
        </p:txBody>
      </p:sp>
      <p:sp>
        <p:nvSpPr>
          <p:cNvPr id="19" name="Text 13"/>
          <p:cNvSpPr txBox="1"/>
          <p:nvPr/>
        </p:nvSpPr>
        <p:spPr>
          <a:xfrm>
            <a:off x="5120640" y="4178808"/>
            <a:ext cx="6492240" cy="731520"/>
          </a:xfrm>
          <a:prstGeom prst="rect">
            <a:avLst/>
          </a:prstGeom>
          <a:noFill/>
          <a:ln/>
        </p:spPr>
        <p:txBody>
          <a:bodyPr wrap="square" lIns="0" tIns="0" rIns="0" bIns="0" rtlCol="0" anchor="t"/>
          <a:lstStyle/>
          <a:p>
            <a:pPr indent="0" marL="0">
              <a:buNone/>
            </a:pPr>
            <a:r>
              <a:rPr lang="en-US" sz="1400" dirty="0">
                <a:solidFill>
                  <a:schemeClr val="tx1"/>
                </a:solidFill>
              </a:rPr>
              <a:t>Syncs with TallyPrime, Zoho Books, Odoo, myBillBook, Vyapar or Excel.</a:t>
            </a:r>
            <a:endParaRPr lang="en-US" sz="1400" dirty="0"/>
          </a:p>
        </p:txBody>
      </p:sp>
      <p:sp>
        <p:nvSpPr>
          <p:cNvPr id="20" name="Shape 14"/>
          <p:cNvSpPr/>
          <p:nvPr/>
        </p:nvSpPr>
        <p:spPr>
          <a:xfrm>
            <a:off x="4297680" y="5120640"/>
            <a:ext cx="640080" cy="640080"/>
          </a:xfrm>
          <a:prstGeom prst="ellipse">
            <a:avLst/>
          </a:prstGeom>
          <a:solidFill>
            <a:schemeClr val="accent1"/>
          </a:solidFill>
          <a:ln/>
        </p:spPr>
      </p:sp>
      <p:pic>
        <p:nvPicPr>
          <p:cNvPr id="21" name="Image 3" descr="preencoded.png">    </p:cNvPr>
          <p:cNvPicPr>
            <a:picLocks noChangeAspect="1"/>
          </p:cNvPicPr>
          <p:nvPr/>
        </p:nvPicPr>
        <p:blipFill>
          <a:blip r:embed="rId4"/>
          <a:stretch>
            <a:fillRect/>
          </a:stretch>
        </p:blipFill>
        <p:spPr>
          <a:xfrm>
            <a:off x="4451299" y="5274259"/>
            <a:ext cx="332842" cy="332842"/>
          </a:xfrm>
          <a:prstGeom prst="rect">
            <a:avLst/>
          </a:prstGeom>
        </p:spPr>
      </p:pic>
      <p:sp>
        <p:nvSpPr>
          <p:cNvPr id="22" name="Text 15"/>
          <p:cNvSpPr txBox="1"/>
          <p:nvPr/>
        </p:nvSpPr>
        <p:spPr>
          <a:xfrm>
            <a:off x="5120640" y="5029200"/>
            <a:ext cx="6492240" cy="365760"/>
          </a:xfrm>
          <a:prstGeom prst="rect">
            <a:avLst/>
          </a:prstGeom>
          <a:noFill/>
          <a:ln/>
        </p:spPr>
        <p:txBody>
          <a:bodyPr wrap="square" lIns="0" tIns="0" rIns="0" bIns="0" rtlCol="0" anchor="t"/>
          <a:lstStyle/>
          <a:p>
            <a:pPr indent="0" marL="0">
              <a:buNone/>
            </a:pPr>
            <a:r>
              <a:rPr lang="en-US" sz="1700" b="1" dirty="0">
                <a:solidFill>
                  <a:schemeClr val="tx2"/>
                </a:solidFill>
              </a:rPr>
              <a:t>Run it with the team</a:t>
            </a:r>
            <a:endParaRPr lang="en-US" sz="1700" dirty="0"/>
          </a:p>
        </p:txBody>
      </p:sp>
      <p:sp>
        <p:nvSpPr>
          <p:cNvPr id="23" name="Text 16"/>
          <p:cNvSpPr txBox="1"/>
          <p:nvPr/>
        </p:nvSpPr>
        <p:spPr>
          <a:xfrm>
            <a:off x="5120640" y="5413248"/>
            <a:ext cx="6492240" cy="731520"/>
          </a:xfrm>
          <a:prstGeom prst="rect">
            <a:avLst/>
          </a:prstGeom>
          <a:noFill/>
          <a:ln/>
        </p:spPr>
        <p:txBody>
          <a:bodyPr wrap="square" lIns="0" tIns="0" rIns="0" bIns="0" rtlCol="0" anchor="t"/>
          <a:lstStyle/>
          <a:p>
            <a:pPr indent="0" marL="0">
              <a:buNone/>
            </a:pPr>
            <a:r>
              <a:rPr lang="en-US" sz="1400" dirty="0">
                <a:solidFill>
                  <a:schemeClr val="tx1"/>
                </a:solidFill>
              </a:rPr>
              <a:t>Staff logins, offers and coupons, analytics, low-stock alerts and bulk product upload from a phone.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Trust is now a selling point, and GoKesari is built for it</a:t>
            </a:r>
            <a:endParaRPr lang="en-US" sz="3200" dirty="0"/>
          </a:p>
        </p:txBody>
      </p:sp>
      <p:sp>
        <p:nvSpPr>
          <p:cNvPr id="4" name="Shape 1"/>
          <p:cNvSpPr/>
          <p:nvPr/>
        </p:nvSpPr>
        <p:spPr>
          <a:xfrm>
            <a:off x="548640" y="1325880"/>
            <a:ext cx="5394960" cy="4846320"/>
          </a:xfrm>
          <a:prstGeom prst="roundRect">
            <a:avLst>
              <a:gd name="adj" fmla="val 1509"/>
            </a:avLst>
          </a:prstGeom>
          <a:solidFill>
            <a:schemeClr val="bg2"/>
          </a:solidFill>
          <a:ln/>
        </p:spPr>
      </p:sp>
      <p:sp>
        <p:nvSpPr>
          <p:cNvPr id="5" name="Shape 2"/>
          <p:cNvSpPr/>
          <p:nvPr/>
        </p:nvSpPr>
        <p:spPr>
          <a:xfrm>
            <a:off x="822960" y="1554480"/>
            <a:ext cx="594360" cy="594360"/>
          </a:xfrm>
          <a:prstGeom prst="ellipse">
            <a:avLst/>
          </a:prstGeom>
          <a:solidFill>
            <a:schemeClr val="accent5"/>
          </a:solidFill>
          <a:ln/>
        </p:spPr>
      </p:sp>
      <p:pic>
        <p:nvPicPr>
          <p:cNvPr id="6" name="Image 0" descr="preencoded.png">    </p:cNvPr>
          <p:cNvPicPr>
            <a:picLocks noChangeAspect="1"/>
          </p:cNvPicPr>
          <p:nvPr/>
        </p:nvPicPr>
        <p:blipFill>
          <a:blip r:embed="rId1"/>
          <a:stretch>
            <a:fillRect/>
          </a:stretch>
        </p:blipFill>
        <p:spPr>
          <a:xfrm>
            <a:off x="965606" y="1697126"/>
            <a:ext cx="309067" cy="309067"/>
          </a:xfrm>
          <a:prstGeom prst="rect">
            <a:avLst/>
          </a:prstGeom>
        </p:spPr>
      </p:pic>
      <p:sp>
        <p:nvSpPr>
          <p:cNvPr id="7" name="Text 3"/>
          <p:cNvSpPr txBox="1"/>
          <p:nvPr/>
        </p:nvSpPr>
        <p:spPr>
          <a:xfrm>
            <a:off x="1600200" y="1554480"/>
            <a:ext cx="4114800" cy="59436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What customers are worried about</a:t>
            </a:r>
            <a:endParaRPr lang="en-US" sz="1900" dirty="0"/>
          </a:p>
        </p:txBody>
      </p:sp>
      <p:sp>
        <p:nvSpPr>
          <p:cNvPr id="8" name="Text 4"/>
          <p:cNvSpPr txBox="1"/>
          <p:nvPr/>
        </p:nvSpPr>
        <p:spPr>
          <a:xfrm>
            <a:off x="868680" y="2423160"/>
            <a:ext cx="4800600" cy="356616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chemeClr val="tx1"/>
                </a:solidFill>
              </a:rPr>
              <a:t>CCPA penalties for drip pricing and basket sneaking (Zepto ₹7 lakh; 9 platforms fined)</a:t>
            </a:r>
            <a:endParaRPr lang="en-US" sz="1700" dirty="0"/>
          </a:p>
          <a:p>
            <a:pPr marL="342900" indent="-342900">
              <a:spcAft>
                <a:spcPts val="1400"/>
              </a:spcAft>
              <a:buSzPct val="100000"/>
              <a:buChar char="•"/>
            </a:pPr>
            <a:r>
              <a:rPr lang="en-US" sz="1700" dirty="0">
                <a:solidFill>
                  <a:schemeClr val="tx1"/>
                </a:solidFill>
              </a:rPr>
              <a:t>Dark-store food licences suspended in Maharashtra (14) and Telangana (4)</a:t>
            </a:r>
            <a:endParaRPr lang="en-US" sz="1700" dirty="0"/>
          </a:p>
          <a:p>
            <a:pPr marL="342900" indent="-342900">
              <a:spcAft>
                <a:spcPts val="1400"/>
              </a:spcAft>
              <a:buSzPct val="100000"/>
              <a:buChar char="•"/>
            </a:pPr>
            <a:r>
              <a:rPr lang="en-US" sz="1700" dirty="0">
                <a:solidFill>
                  <a:schemeClr val="tx1"/>
                </a:solidFill>
              </a:rPr>
              <a:t>Fee stacking: delivery + handling + small-cart fees on Blinkit and Instamart</a:t>
            </a:r>
            <a:endParaRPr lang="en-US" sz="1700" dirty="0"/>
          </a:p>
          <a:p>
            <a:pPr marL="342900" indent="-342900">
              <a:spcAft>
                <a:spcPts val="1400"/>
              </a:spcAft>
              <a:buSzPct val="100000"/>
              <a:buChar char="•"/>
            </a:pPr>
            <a:r>
              <a:rPr lang="en-US" sz="1700" dirty="0">
                <a:solidFill>
                  <a:schemeClr val="tx1"/>
                </a:solidFill>
              </a:rPr>
              <a:t>Spoiled-milk and quality complaints on quick commerce and Country Delight</a:t>
            </a:r>
            <a:endParaRPr lang="en-US" sz="1700" dirty="0"/>
          </a:p>
        </p:txBody>
      </p:sp>
      <p:sp>
        <p:nvSpPr>
          <p:cNvPr id="9" name="Shape 5"/>
          <p:cNvSpPr/>
          <p:nvPr/>
        </p:nvSpPr>
        <p:spPr>
          <a:xfrm>
            <a:off x="6217920" y="1325880"/>
            <a:ext cx="5394960" cy="4846320"/>
          </a:xfrm>
          <a:prstGeom prst="roundRect">
            <a:avLst>
              <a:gd name="adj" fmla="val 1509"/>
            </a:avLst>
          </a:prstGeom>
          <a:solidFill>
            <a:schemeClr val="bg2"/>
          </a:solidFill>
          <a:ln/>
        </p:spPr>
      </p:sp>
      <p:sp>
        <p:nvSpPr>
          <p:cNvPr id="10" name="Shape 6"/>
          <p:cNvSpPr/>
          <p:nvPr/>
        </p:nvSpPr>
        <p:spPr>
          <a:xfrm>
            <a:off x="6492240" y="1554480"/>
            <a:ext cx="594360" cy="594360"/>
          </a:xfrm>
          <a:prstGeom prst="ellipse">
            <a:avLst/>
          </a:prstGeom>
          <a:solidFill>
            <a:schemeClr val="accent2"/>
          </a:solidFill>
          <a:ln/>
        </p:spPr>
      </p:sp>
      <p:pic>
        <p:nvPicPr>
          <p:cNvPr id="11" name="Image 1" descr="preencoded.png">    </p:cNvPr>
          <p:cNvPicPr>
            <a:picLocks noChangeAspect="1"/>
          </p:cNvPicPr>
          <p:nvPr/>
        </p:nvPicPr>
        <p:blipFill>
          <a:blip r:embed="rId2"/>
          <a:stretch>
            <a:fillRect/>
          </a:stretch>
        </p:blipFill>
        <p:spPr>
          <a:xfrm>
            <a:off x="6634886" y="1697126"/>
            <a:ext cx="309067" cy="309067"/>
          </a:xfrm>
          <a:prstGeom prst="rect">
            <a:avLst/>
          </a:prstGeom>
        </p:spPr>
      </p:pic>
      <p:sp>
        <p:nvSpPr>
          <p:cNvPr id="12" name="Text 7"/>
          <p:cNvSpPr txBox="1"/>
          <p:nvPr/>
        </p:nvSpPr>
        <p:spPr>
          <a:xfrm>
            <a:off x="7269480" y="1554480"/>
            <a:ext cx="4114800" cy="59436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How GoKesari answers</a:t>
            </a:r>
            <a:endParaRPr lang="en-US" sz="1900" dirty="0"/>
          </a:p>
        </p:txBody>
      </p:sp>
      <p:sp>
        <p:nvSpPr>
          <p:cNvPr id="13" name="Text 8"/>
          <p:cNvSpPr txBox="1"/>
          <p:nvPr/>
        </p:nvSpPr>
        <p:spPr>
          <a:xfrm>
            <a:off x="6537960" y="2423160"/>
            <a:ext cx="4800600" cy="356616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chemeClr val="tx1"/>
                </a:solidFill>
              </a:rPr>
              <a:t>Every fee shown before payment; no handling or small-cart fee; MRP cap enforced</a:t>
            </a:r>
            <a:endParaRPr lang="en-US" sz="1700" dirty="0"/>
          </a:p>
          <a:p>
            <a:pPr marL="342900" indent="-342900">
              <a:spcAft>
                <a:spcPts val="1400"/>
              </a:spcAft>
              <a:buSzPct val="100000"/>
              <a:buChar char="•"/>
            </a:pPr>
            <a:r>
              <a:rPr lang="en-US" sz="1700" dirty="0">
                <a:solidFill>
                  <a:schemeClr val="tx1"/>
                </a:solidFill>
              </a:rPr>
              <a:t>FSSAI number shown on food shops; documents re-checked, lapsed shops paused</a:t>
            </a:r>
            <a:endParaRPr lang="en-US" sz="1700" dirty="0"/>
          </a:p>
          <a:p>
            <a:pPr marL="342900" indent="-342900">
              <a:spcAft>
                <a:spcPts val="1400"/>
              </a:spcAft>
              <a:buSzPct val="100000"/>
              <a:buChar char="•"/>
            </a:pPr>
            <a:r>
              <a:rPr lang="en-US" sz="1700" dirty="0">
                <a:solidFill>
                  <a:schemeClr val="tx1"/>
                </a:solidFill>
              </a:rPr>
              <a:t>Delivery and pickup codes; shop wallet; refunds keep the promo/cash split</a:t>
            </a:r>
            <a:endParaRPr lang="en-US" sz="1700" dirty="0"/>
          </a:p>
          <a:p>
            <a:pPr marL="342900" indent="-342900">
              <a:spcAft>
                <a:spcPts val="1400"/>
              </a:spcAft>
              <a:buSzPct val="100000"/>
              <a:buChar char="•"/>
            </a:pPr>
            <a:r>
              <a:rPr lang="en-US" sz="1700" dirty="0">
                <a:solidFill>
                  <a:schemeClr val="tx1"/>
                </a:solidFill>
              </a:rPr>
              <a:t>DPDPA consent log, grievance tickets, full audit trail, encrypted PAN/KYC (AES-256)</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What each competitor does better</a:t>
            </a:r>
            <a:endParaRPr lang="en-US" sz="3200" dirty="0"/>
          </a:p>
        </p:txBody>
      </p:sp>
      <p:sp>
        <p:nvSpPr>
          <p:cNvPr id="4" name="Shape 1"/>
          <p:cNvSpPr/>
          <p:nvPr/>
        </p:nvSpPr>
        <p:spPr>
          <a:xfrm>
            <a:off x="548640" y="1325880"/>
            <a:ext cx="2103120" cy="2240280"/>
          </a:xfrm>
          <a:prstGeom prst="roundRect">
            <a:avLst>
              <a:gd name="adj" fmla="val 3478"/>
            </a:avLst>
          </a:prstGeom>
          <a:solidFill>
            <a:schemeClr val="bg2"/>
          </a:solidFill>
          <a:ln/>
        </p:spPr>
      </p:sp>
      <p:sp>
        <p:nvSpPr>
          <p:cNvPr id="5" name="Text 2"/>
          <p:cNvSpPr txBox="1"/>
          <p:nvPr/>
        </p:nvSpPr>
        <p:spPr>
          <a:xfrm>
            <a:off x="731520" y="1508760"/>
            <a:ext cx="1737360" cy="41148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Amazon</a:t>
            </a:r>
            <a:endParaRPr lang="en-US" sz="1600" dirty="0"/>
          </a:p>
        </p:txBody>
      </p:sp>
      <p:sp>
        <p:nvSpPr>
          <p:cNvPr id="6" name="Text 3"/>
          <p:cNvSpPr txBox="1"/>
          <p:nvPr/>
        </p:nvSpPr>
        <p:spPr>
          <a:xfrm>
            <a:off x="731520" y="2011680"/>
            <a:ext cx="1737360" cy="1417320"/>
          </a:xfrm>
          <a:prstGeom prst="rect">
            <a:avLst/>
          </a:prstGeom>
          <a:noFill/>
          <a:ln/>
        </p:spPr>
        <p:txBody>
          <a:bodyPr wrap="square" lIns="0" tIns="0" rIns="0" bIns="0" rtlCol="0" anchor="t"/>
          <a:lstStyle/>
          <a:p>
            <a:pPr indent="0" marL="0">
              <a:buNone/>
            </a:pPr>
            <a:r>
              <a:rPr lang="en-US" sz="1500" dirty="0">
                <a:solidFill>
                  <a:schemeClr val="tx1"/>
                </a:solidFill>
              </a:rPr>
              <a:t>Prime ecosystem and Amazon Pay. Amazon Now reached a $1bn run rate in ~15 months.</a:t>
            </a:r>
            <a:endParaRPr lang="en-US" sz="1500" dirty="0"/>
          </a:p>
        </p:txBody>
      </p:sp>
      <p:sp>
        <p:nvSpPr>
          <p:cNvPr id="7" name="Shape 4"/>
          <p:cNvSpPr/>
          <p:nvPr/>
        </p:nvSpPr>
        <p:spPr>
          <a:xfrm>
            <a:off x="2788920" y="1325880"/>
            <a:ext cx="2103120" cy="2240280"/>
          </a:xfrm>
          <a:prstGeom prst="roundRect">
            <a:avLst>
              <a:gd name="adj" fmla="val 3478"/>
            </a:avLst>
          </a:prstGeom>
          <a:solidFill>
            <a:schemeClr val="bg2"/>
          </a:solidFill>
          <a:ln/>
        </p:spPr>
      </p:sp>
      <p:sp>
        <p:nvSpPr>
          <p:cNvPr id="8" name="Text 5"/>
          <p:cNvSpPr txBox="1"/>
          <p:nvPr/>
        </p:nvSpPr>
        <p:spPr>
          <a:xfrm>
            <a:off x="2971800" y="1508760"/>
            <a:ext cx="1737360" cy="41148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Flipkart</a:t>
            </a:r>
            <a:endParaRPr lang="en-US" sz="1600" dirty="0"/>
          </a:p>
        </p:txBody>
      </p:sp>
      <p:sp>
        <p:nvSpPr>
          <p:cNvPr id="9" name="Text 6"/>
          <p:cNvSpPr txBox="1"/>
          <p:nvPr/>
        </p:nvSpPr>
        <p:spPr>
          <a:xfrm>
            <a:off x="2971800" y="2011680"/>
            <a:ext cx="1737360" cy="1417320"/>
          </a:xfrm>
          <a:prstGeom prst="rect">
            <a:avLst/>
          </a:prstGeom>
          <a:noFill/>
          <a:ln/>
        </p:spPr>
        <p:txBody>
          <a:bodyPr wrap="square" lIns="0" tIns="0" rIns="0" bIns="0" rtlCol="0" anchor="t"/>
          <a:lstStyle/>
          <a:p>
            <a:pPr indent="0" marL="0">
              <a:buNone/>
            </a:pPr>
            <a:r>
              <a:rPr lang="en-US" sz="1500" dirty="0">
                <a:solidFill>
                  <a:schemeClr val="tx1"/>
                </a:solidFill>
              </a:rPr>
              <a:t>Huge user base and 10+ languages. Strong push into Tier-2 and Tier-3 towns.</a:t>
            </a:r>
            <a:endParaRPr lang="en-US" sz="1500" dirty="0"/>
          </a:p>
        </p:txBody>
      </p:sp>
      <p:sp>
        <p:nvSpPr>
          <p:cNvPr id="10" name="Shape 7"/>
          <p:cNvSpPr/>
          <p:nvPr/>
        </p:nvSpPr>
        <p:spPr>
          <a:xfrm>
            <a:off x="5029200" y="1325880"/>
            <a:ext cx="2103120" cy="2240280"/>
          </a:xfrm>
          <a:prstGeom prst="roundRect">
            <a:avLst>
              <a:gd name="adj" fmla="val 3478"/>
            </a:avLst>
          </a:prstGeom>
          <a:solidFill>
            <a:schemeClr val="bg2"/>
          </a:solidFill>
          <a:ln/>
        </p:spPr>
      </p:sp>
      <p:sp>
        <p:nvSpPr>
          <p:cNvPr id="11" name="Text 8"/>
          <p:cNvSpPr txBox="1"/>
          <p:nvPr/>
        </p:nvSpPr>
        <p:spPr>
          <a:xfrm>
            <a:off x="5212080" y="1508760"/>
            <a:ext cx="1737360" cy="41148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Flipkart Minutes</a:t>
            </a:r>
            <a:endParaRPr lang="en-US" sz="1600" dirty="0"/>
          </a:p>
        </p:txBody>
      </p:sp>
      <p:sp>
        <p:nvSpPr>
          <p:cNvPr id="12" name="Text 9"/>
          <p:cNvSpPr txBox="1"/>
          <p:nvPr/>
        </p:nvSpPr>
        <p:spPr>
          <a:xfrm>
            <a:off x="5212080" y="2011680"/>
            <a:ext cx="1737360" cy="1417320"/>
          </a:xfrm>
          <a:prstGeom prst="rect">
            <a:avLst/>
          </a:prstGeom>
          <a:noFill/>
          <a:ln/>
        </p:spPr>
        <p:txBody>
          <a:bodyPr wrap="square" lIns="0" tIns="0" rIns="0" bIns="0" rtlCol="0" anchor="t"/>
          <a:lstStyle/>
          <a:p>
            <a:pPr indent="0" marL="0">
              <a:buNone/>
            </a:pPr>
            <a:r>
              <a:rPr lang="en-US" sz="1500" dirty="0">
                <a:solidFill>
                  <a:schemeClr val="tx1"/>
                </a:solidFill>
              </a:rPr>
              <a:t>1,000 stores in under 2 years; more than Instamart in the top 10 cities.</a:t>
            </a:r>
            <a:endParaRPr lang="en-US" sz="1500" dirty="0"/>
          </a:p>
        </p:txBody>
      </p:sp>
      <p:sp>
        <p:nvSpPr>
          <p:cNvPr id="13" name="Shape 10"/>
          <p:cNvSpPr/>
          <p:nvPr/>
        </p:nvSpPr>
        <p:spPr>
          <a:xfrm>
            <a:off x="7269480" y="1325880"/>
            <a:ext cx="2103120" cy="2240280"/>
          </a:xfrm>
          <a:prstGeom prst="roundRect">
            <a:avLst>
              <a:gd name="adj" fmla="val 3478"/>
            </a:avLst>
          </a:prstGeom>
          <a:solidFill>
            <a:schemeClr val="bg2"/>
          </a:solidFill>
          <a:ln/>
        </p:spPr>
      </p:sp>
      <p:sp>
        <p:nvSpPr>
          <p:cNvPr id="14" name="Text 11"/>
          <p:cNvSpPr txBox="1"/>
          <p:nvPr/>
        </p:nvSpPr>
        <p:spPr>
          <a:xfrm>
            <a:off x="7452360" y="1508760"/>
            <a:ext cx="1737360" cy="41148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Meesho</a:t>
            </a:r>
            <a:endParaRPr lang="en-US" sz="1600" dirty="0"/>
          </a:p>
        </p:txBody>
      </p:sp>
      <p:sp>
        <p:nvSpPr>
          <p:cNvPr id="15" name="Text 12"/>
          <p:cNvSpPr txBox="1"/>
          <p:nvPr/>
        </p:nvSpPr>
        <p:spPr>
          <a:xfrm>
            <a:off x="7452360" y="2011680"/>
            <a:ext cx="1737360" cy="1417320"/>
          </a:xfrm>
          <a:prstGeom prst="rect">
            <a:avLst/>
          </a:prstGeom>
          <a:noFill/>
          <a:ln/>
        </p:spPr>
        <p:txBody>
          <a:bodyPr wrap="square" lIns="0" tIns="0" rIns="0" bIns="0" rtlCol="0" anchor="t"/>
          <a:lstStyle/>
          <a:p>
            <a:pPr indent="0" marL="0">
              <a:buNone/>
            </a:pPr>
            <a:r>
              <a:rPr lang="en-US" sz="1500" dirty="0">
                <a:solidFill>
                  <a:schemeClr val="tx1"/>
                </a:solidFill>
              </a:rPr>
              <a:t>Lowest prices and 0% commission. Strong in COD and regional languages.</a:t>
            </a:r>
            <a:endParaRPr lang="en-US" sz="1500" dirty="0"/>
          </a:p>
        </p:txBody>
      </p:sp>
      <p:sp>
        <p:nvSpPr>
          <p:cNvPr id="16" name="Shape 13"/>
          <p:cNvSpPr/>
          <p:nvPr/>
        </p:nvSpPr>
        <p:spPr>
          <a:xfrm>
            <a:off x="9509760" y="1325880"/>
            <a:ext cx="2103120" cy="2240280"/>
          </a:xfrm>
          <a:prstGeom prst="roundRect">
            <a:avLst>
              <a:gd name="adj" fmla="val 3478"/>
            </a:avLst>
          </a:prstGeom>
          <a:solidFill>
            <a:schemeClr val="bg2"/>
          </a:solidFill>
          <a:ln/>
        </p:spPr>
      </p:sp>
      <p:sp>
        <p:nvSpPr>
          <p:cNvPr id="17" name="Text 14"/>
          <p:cNvSpPr txBox="1"/>
          <p:nvPr/>
        </p:nvSpPr>
        <p:spPr>
          <a:xfrm>
            <a:off x="9692640" y="1508760"/>
            <a:ext cx="1737360" cy="41148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BigBasket</a:t>
            </a:r>
            <a:endParaRPr lang="en-US" sz="1600" dirty="0"/>
          </a:p>
        </p:txBody>
      </p:sp>
      <p:sp>
        <p:nvSpPr>
          <p:cNvPr id="18" name="Text 15"/>
          <p:cNvSpPr txBox="1"/>
          <p:nvPr/>
        </p:nvSpPr>
        <p:spPr>
          <a:xfrm>
            <a:off x="9692640" y="2011680"/>
            <a:ext cx="1737360" cy="1417320"/>
          </a:xfrm>
          <a:prstGeom prst="rect">
            <a:avLst/>
          </a:prstGeom>
          <a:noFill/>
          <a:ln/>
        </p:spPr>
        <p:txBody>
          <a:bodyPr wrap="square" lIns="0" tIns="0" rIns="0" bIns="0" rtlCol="0" anchor="t"/>
          <a:lstStyle/>
          <a:p>
            <a:pPr indent="0" marL="0">
              <a:buNone/>
            </a:pPr>
            <a:r>
              <a:rPr lang="en-US" sz="1500" dirty="0">
                <a:solidFill>
                  <a:schemeClr val="tx1"/>
                </a:solidFill>
              </a:rPr>
              <a:t>A real milk subscription (BB Daily) plus 10-min BB Now and Tata trust.</a:t>
            </a:r>
            <a:endParaRPr lang="en-US" sz="1500" dirty="0"/>
          </a:p>
        </p:txBody>
      </p:sp>
      <p:sp>
        <p:nvSpPr>
          <p:cNvPr id="19" name="Shape 16"/>
          <p:cNvSpPr/>
          <p:nvPr/>
        </p:nvSpPr>
        <p:spPr>
          <a:xfrm>
            <a:off x="548640" y="3840480"/>
            <a:ext cx="2103120" cy="2240280"/>
          </a:xfrm>
          <a:prstGeom prst="roundRect">
            <a:avLst>
              <a:gd name="adj" fmla="val 3478"/>
            </a:avLst>
          </a:prstGeom>
          <a:solidFill>
            <a:schemeClr val="bg2"/>
          </a:solidFill>
          <a:ln/>
        </p:spPr>
      </p:sp>
      <p:sp>
        <p:nvSpPr>
          <p:cNvPr id="20" name="Text 17"/>
          <p:cNvSpPr txBox="1"/>
          <p:nvPr/>
        </p:nvSpPr>
        <p:spPr>
          <a:xfrm>
            <a:off x="731520" y="4023360"/>
            <a:ext cx="1737360" cy="41148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Blinkit</a:t>
            </a:r>
            <a:endParaRPr lang="en-US" sz="1600" dirty="0"/>
          </a:p>
        </p:txBody>
      </p:sp>
      <p:sp>
        <p:nvSpPr>
          <p:cNvPr id="21" name="Text 18"/>
          <p:cNvSpPr txBox="1"/>
          <p:nvPr/>
        </p:nvSpPr>
        <p:spPr>
          <a:xfrm>
            <a:off x="731520" y="4526280"/>
            <a:ext cx="1737360" cy="1417320"/>
          </a:xfrm>
          <a:prstGeom prst="rect">
            <a:avLst/>
          </a:prstGeom>
          <a:noFill/>
          <a:ln/>
        </p:spPr>
        <p:txBody>
          <a:bodyPr wrap="square" lIns="0" tIns="0" rIns="0" bIns="0" rtlCol="0" anchor="t"/>
          <a:lstStyle/>
          <a:p>
            <a:pPr indent="0" marL="0">
              <a:buNone/>
            </a:pPr>
            <a:r>
              <a:rPr lang="en-US" sz="1500" dirty="0">
                <a:solidFill>
                  <a:schemeClr val="tx1"/>
                </a:solidFill>
              </a:rPr>
              <a:t>~45% share, best in-stock rate (94.4%) and EBITDA positive.</a:t>
            </a:r>
            <a:endParaRPr lang="en-US" sz="1500" dirty="0"/>
          </a:p>
        </p:txBody>
      </p:sp>
      <p:sp>
        <p:nvSpPr>
          <p:cNvPr id="22" name="Shape 19"/>
          <p:cNvSpPr/>
          <p:nvPr/>
        </p:nvSpPr>
        <p:spPr>
          <a:xfrm>
            <a:off x="2788920" y="3840480"/>
            <a:ext cx="2103120" cy="2240280"/>
          </a:xfrm>
          <a:prstGeom prst="roundRect">
            <a:avLst>
              <a:gd name="adj" fmla="val 3478"/>
            </a:avLst>
          </a:prstGeom>
          <a:solidFill>
            <a:schemeClr val="bg2"/>
          </a:solidFill>
          <a:ln/>
        </p:spPr>
      </p:sp>
      <p:sp>
        <p:nvSpPr>
          <p:cNvPr id="23" name="Text 20"/>
          <p:cNvSpPr txBox="1"/>
          <p:nvPr/>
        </p:nvSpPr>
        <p:spPr>
          <a:xfrm>
            <a:off x="2971800" y="4023360"/>
            <a:ext cx="1737360" cy="41148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Zepto</a:t>
            </a:r>
            <a:endParaRPr lang="en-US" sz="1600" dirty="0"/>
          </a:p>
        </p:txBody>
      </p:sp>
      <p:sp>
        <p:nvSpPr>
          <p:cNvPr id="24" name="Text 21"/>
          <p:cNvSpPr txBox="1"/>
          <p:nvPr/>
        </p:nvSpPr>
        <p:spPr>
          <a:xfrm>
            <a:off x="2971800" y="4526280"/>
            <a:ext cx="1737360" cy="1417320"/>
          </a:xfrm>
          <a:prstGeom prst="rect">
            <a:avLst/>
          </a:prstGeom>
          <a:noFill/>
          <a:ln/>
        </p:spPr>
        <p:txBody>
          <a:bodyPr wrap="square" lIns="0" tIns="0" rIns="0" bIns="0" rtlCol="0" anchor="t"/>
          <a:lstStyle/>
          <a:p>
            <a:pPr indent="0" marL="0">
              <a:buNone/>
            </a:pPr>
            <a:r>
              <a:rPr lang="en-US" sz="1500" dirty="0">
                <a:solidFill>
                  <a:schemeClr val="tx1"/>
                </a:solidFill>
              </a:rPr>
              <a:t>Revenue doubled to ₹22.6k Cr; high orders per store; handling fee removed.</a:t>
            </a:r>
            <a:endParaRPr lang="en-US" sz="1500" dirty="0"/>
          </a:p>
        </p:txBody>
      </p:sp>
      <p:sp>
        <p:nvSpPr>
          <p:cNvPr id="25" name="Shape 22"/>
          <p:cNvSpPr/>
          <p:nvPr/>
        </p:nvSpPr>
        <p:spPr>
          <a:xfrm>
            <a:off x="5029200" y="3840480"/>
            <a:ext cx="2103120" cy="2240280"/>
          </a:xfrm>
          <a:prstGeom prst="roundRect">
            <a:avLst>
              <a:gd name="adj" fmla="val 3478"/>
            </a:avLst>
          </a:prstGeom>
          <a:solidFill>
            <a:schemeClr val="bg2"/>
          </a:solidFill>
          <a:ln/>
        </p:spPr>
      </p:sp>
      <p:sp>
        <p:nvSpPr>
          <p:cNvPr id="26" name="Text 23"/>
          <p:cNvSpPr txBox="1"/>
          <p:nvPr/>
        </p:nvSpPr>
        <p:spPr>
          <a:xfrm>
            <a:off x="5212080" y="4023360"/>
            <a:ext cx="1737360" cy="41148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Instamart</a:t>
            </a:r>
            <a:endParaRPr lang="en-US" sz="1600" dirty="0"/>
          </a:p>
        </p:txBody>
      </p:sp>
      <p:sp>
        <p:nvSpPr>
          <p:cNvPr id="27" name="Text 24"/>
          <p:cNvSpPr txBox="1"/>
          <p:nvPr/>
        </p:nvSpPr>
        <p:spPr>
          <a:xfrm>
            <a:off x="5212080" y="4526280"/>
            <a:ext cx="1737360" cy="1417320"/>
          </a:xfrm>
          <a:prstGeom prst="rect">
            <a:avLst/>
          </a:prstGeom>
          <a:noFill/>
          <a:ln/>
        </p:spPr>
        <p:txBody>
          <a:bodyPr wrap="square" lIns="0" tIns="0" rIns="0" bIns="0" rtlCol="0" anchor="t"/>
          <a:lstStyle/>
          <a:p>
            <a:pPr indent="0" marL="0">
              <a:buNone/>
            </a:pPr>
            <a:r>
              <a:rPr lang="en-US" sz="1500" dirty="0">
                <a:solidFill>
                  <a:schemeClr val="tx1"/>
                </a:solidFill>
              </a:rPr>
              <a:t>Cross-sells with Swiggy food; reached contribution breakeven.</a:t>
            </a:r>
            <a:endParaRPr lang="en-US" sz="1500" dirty="0"/>
          </a:p>
        </p:txBody>
      </p:sp>
      <p:sp>
        <p:nvSpPr>
          <p:cNvPr id="28" name="Shape 25"/>
          <p:cNvSpPr/>
          <p:nvPr/>
        </p:nvSpPr>
        <p:spPr>
          <a:xfrm>
            <a:off x="7269480" y="3840480"/>
            <a:ext cx="2103120" cy="2240280"/>
          </a:xfrm>
          <a:prstGeom prst="roundRect">
            <a:avLst>
              <a:gd name="adj" fmla="val 3478"/>
            </a:avLst>
          </a:prstGeom>
          <a:solidFill>
            <a:schemeClr val="bg2"/>
          </a:solidFill>
          <a:ln/>
        </p:spPr>
      </p:sp>
      <p:sp>
        <p:nvSpPr>
          <p:cNvPr id="29" name="Text 26"/>
          <p:cNvSpPr txBox="1"/>
          <p:nvPr/>
        </p:nvSpPr>
        <p:spPr>
          <a:xfrm>
            <a:off x="7452360" y="4023360"/>
            <a:ext cx="1737360" cy="41148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JioMart</a:t>
            </a:r>
            <a:endParaRPr lang="en-US" sz="1600" dirty="0"/>
          </a:p>
        </p:txBody>
      </p:sp>
      <p:sp>
        <p:nvSpPr>
          <p:cNvPr id="30" name="Text 27"/>
          <p:cNvSpPr txBox="1"/>
          <p:nvPr/>
        </p:nvSpPr>
        <p:spPr>
          <a:xfrm>
            <a:off x="7452360" y="4526280"/>
            <a:ext cx="1737360" cy="1417320"/>
          </a:xfrm>
          <a:prstGeom prst="rect">
            <a:avLst/>
          </a:prstGeom>
          <a:noFill/>
          <a:ln/>
        </p:spPr>
        <p:txBody>
          <a:bodyPr wrap="square" lIns="0" tIns="0" rIns="0" bIns="0" rtlCol="0" anchor="t"/>
          <a:lstStyle/>
          <a:p>
            <a:pPr indent="0" marL="0">
              <a:buNone/>
            </a:pPr>
            <a:r>
              <a:rPr lang="en-US" sz="1500" dirty="0">
                <a:solidFill>
                  <a:schemeClr val="tx1"/>
                </a:solidFill>
              </a:rPr>
              <a:t>Widest reach, 1,000+ cities; Reliance stores and kirana partners.</a:t>
            </a:r>
            <a:endParaRPr lang="en-US" sz="1500" dirty="0"/>
          </a:p>
        </p:txBody>
      </p:sp>
      <p:sp>
        <p:nvSpPr>
          <p:cNvPr id="31" name="Shape 28"/>
          <p:cNvSpPr/>
          <p:nvPr/>
        </p:nvSpPr>
        <p:spPr>
          <a:xfrm>
            <a:off x="9509760" y="3840480"/>
            <a:ext cx="2103120" cy="2240280"/>
          </a:xfrm>
          <a:prstGeom prst="roundRect">
            <a:avLst>
              <a:gd name="adj" fmla="val 3478"/>
            </a:avLst>
          </a:prstGeom>
          <a:solidFill>
            <a:schemeClr val="bg2"/>
          </a:solidFill>
          <a:ln/>
        </p:spPr>
      </p:sp>
      <p:sp>
        <p:nvSpPr>
          <p:cNvPr id="32" name="Text 29"/>
          <p:cNvSpPr txBox="1"/>
          <p:nvPr/>
        </p:nvSpPr>
        <p:spPr>
          <a:xfrm>
            <a:off x="9692640" y="4023360"/>
            <a:ext cx="1737360" cy="411480"/>
          </a:xfrm>
          <a:prstGeom prst="rect">
            <a:avLst/>
          </a:prstGeom>
          <a:noFill/>
          <a:ln/>
        </p:spPr>
        <p:txBody>
          <a:bodyPr wrap="square" lIns="0" tIns="0" rIns="0" bIns="0" rtlCol="0" anchor="t"/>
          <a:lstStyle/>
          <a:p>
            <a:pPr indent="0" marL="0">
              <a:buNone/>
            </a:pPr>
            <a:r>
              <a:rPr lang="en-US" sz="1600" b="1" dirty="0">
                <a:solidFill>
                  <a:schemeClr val="accent1"/>
                </a:solidFill>
                <a:latin typeface="Cambria" pitchFamily="34" charset="0"/>
                <a:ea typeface="Cambria" pitchFamily="34" charset="-122"/>
                <a:cs typeface="Cambria" pitchFamily="34" charset="-120"/>
              </a:rPr>
              <a:t>Country Delight</a:t>
            </a:r>
            <a:endParaRPr lang="en-US" sz="1600" dirty="0"/>
          </a:p>
        </p:txBody>
      </p:sp>
      <p:sp>
        <p:nvSpPr>
          <p:cNvPr id="33" name="Text 30"/>
          <p:cNvSpPr txBox="1"/>
          <p:nvPr/>
        </p:nvSpPr>
        <p:spPr>
          <a:xfrm>
            <a:off x="9692640" y="4526280"/>
            <a:ext cx="1737360" cy="1417320"/>
          </a:xfrm>
          <a:prstGeom prst="rect">
            <a:avLst/>
          </a:prstGeom>
          <a:noFill/>
          <a:ln/>
        </p:spPr>
        <p:txBody>
          <a:bodyPr wrap="square" lIns="0" tIns="0" rIns="0" bIns="0" rtlCol="0" anchor="t"/>
          <a:lstStyle/>
          <a:p>
            <a:pPr indent="0" marL="0">
              <a:buNone/>
            </a:pPr>
            <a:r>
              <a:rPr lang="en-US" sz="1500" dirty="0">
                <a:solidFill>
                  <a:schemeClr val="tx1"/>
                </a:solidFill>
              </a:rPr>
              <a:t>~90% of sales by subscription; quality testing; morning delivery.</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Where GoKesari must catch up</a:t>
            </a:r>
            <a:endParaRPr lang="en-US" sz="3200" dirty="0"/>
          </a:p>
        </p:txBody>
      </p:sp>
      <p:sp>
        <p:nvSpPr>
          <p:cNvPr id="4" name="Shape 1"/>
          <p:cNvSpPr/>
          <p:nvPr/>
        </p:nvSpPr>
        <p:spPr>
          <a:xfrm>
            <a:off x="548640" y="1417320"/>
            <a:ext cx="640080" cy="640080"/>
          </a:xfrm>
          <a:prstGeom prst="ellipse">
            <a:avLst/>
          </a:prstGeom>
          <a:solidFill>
            <a:schemeClr val="accent5"/>
          </a:solidFill>
          <a:ln/>
        </p:spPr>
      </p:sp>
      <p:pic>
        <p:nvPicPr>
          <p:cNvPr id="5" name="Image 0" descr="preencoded.png">    </p:cNvPr>
          <p:cNvPicPr>
            <a:picLocks noChangeAspect="1"/>
          </p:cNvPicPr>
          <p:nvPr/>
        </p:nvPicPr>
        <p:blipFill>
          <a:blip r:embed="rId1"/>
          <a:stretch>
            <a:fillRect/>
          </a:stretch>
        </p:blipFill>
        <p:spPr>
          <a:xfrm>
            <a:off x="702259" y="1570939"/>
            <a:ext cx="332842" cy="332842"/>
          </a:xfrm>
          <a:prstGeom prst="rect">
            <a:avLst/>
          </a:prstGeom>
        </p:spPr>
      </p:pic>
      <p:sp>
        <p:nvSpPr>
          <p:cNvPr id="6" name="Text 2"/>
          <p:cNvSpPr txBox="1"/>
          <p:nvPr/>
        </p:nvSpPr>
        <p:spPr>
          <a:xfrm>
            <a:off x="1371600" y="1371600"/>
            <a:ext cx="4754880" cy="365760"/>
          </a:xfrm>
          <a:prstGeom prst="rect">
            <a:avLst/>
          </a:prstGeom>
          <a:noFill/>
          <a:ln/>
        </p:spPr>
        <p:txBody>
          <a:bodyPr wrap="square" lIns="0" tIns="0" rIns="0" bIns="0" rtlCol="0" anchor="t"/>
          <a:lstStyle/>
          <a:p>
            <a:pPr indent="0" marL="0">
              <a:buNone/>
            </a:pPr>
            <a:r>
              <a:rPr lang="en-US" sz="1700" b="1" dirty="0">
                <a:solidFill>
                  <a:schemeClr val="tx2"/>
                </a:solidFill>
              </a:rPr>
              <a:t>Speed</a:t>
            </a:r>
            <a:endParaRPr lang="en-US" sz="1700" dirty="0"/>
          </a:p>
        </p:txBody>
      </p:sp>
      <p:sp>
        <p:nvSpPr>
          <p:cNvPr id="7" name="Text 3"/>
          <p:cNvSpPr txBox="1"/>
          <p:nvPr/>
        </p:nvSpPr>
        <p:spPr>
          <a:xfrm>
            <a:off x="1371600" y="1755648"/>
            <a:ext cx="4754880" cy="731520"/>
          </a:xfrm>
          <a:prstGeom prst="rect">
            <a:avLst/>
          </a:prstGeom>
          <a:noFill/>
          <a:ln/>
        </p:spPr>
        <p:txBody>
          <a:bodyPr wrap="square" lIns="0" tIns="0" rIns="0" bIns="0" rtlCol="0" anchor="t"/>
          <a:lstStyle/>
          <a:p>
            <a:pPr indent="0" marL="0">
              <a:buNone/>
            </a:pPr>
            <a:r>
              <a:rPr lang="en-US" sz="1400" dirty="0">
                <a:solidFill>
                  <a:schemeClr val="tx1"/>
                </a:solidFill>
              </a:rPr>
              <a:t>No 10-minute promise. Rivals deliver in 10–15 min from 5,000+ dark stores.</a:t>
            </a:r>
            <a:endParaRPr lang="en-US" sz="1400" dirty="0"/>
          </a:p>
        </p:txBody>
      </p:sp>
      <p:sp>
        <p:nvSpPr>
          <p:cNvPr id="8" name="Shape 4"/>
          <p:cNvSpPr/>
          <p:nvPr/>
        </p:nvSpPr>
        <p:spPr>
          <a:xfrm>
            <a:off x="548640" y="2651760"/>
            <a:ext cx="640080" cy="640080"/>
          </a:xfrm>
          <a:prstGeom prst="ellipse">
            <a:avLst/>
          </a:prstGeom>
          <a:solidFill>
            <a:schemeClr val="accent5"/>
          </a:solidFill>
          <a:ln/>
        </p:spPr>
      </p:sp>
      <p:pic>
        <p:nvPicPr>
          <p:cNvPr id="9" name="Image 1" descr="preencoded.png">    </p:cNvPr>
          <p:cNvPicPr>
            <a:picLocks noChangeAspect="1"/>
          </p:cNvPicPr>
          <p:nvPr/>
        </p:nvPicPr>
        <p:blipFill>
          <a:blip r:embed="rId2"/>
          <a:stretch>
            <a:fillRect/>
          </a:stretch>
        </p:blipFill>
        <p:spPr>
          <a:xfrm>
            <a:off x="702259" y="2805379"/>
            <a:ext cx="332842" cy="332842"/>
          </a:xfrm>
          <a:prstGeom prst="rect">
            <a:avLst/>
          </a:prstGeom>
        </p:spPr>
      </p:pic>
      <p:sp>
        <p:nvSpPr>
          <p:cNvPr id="10" name="Text 5"/>
          <p:cNvSpPr txBox="1"/>
          <p:nvPr/>
        </p:nvSpPr>
        <p:spPr>
          <a:xfrm>
            <a:off x="1371600" y="2606040"/>
            <a:ext cx="4754880" cy="365760"/>
          </a:xfrm>
          <a:prstGeom prst="rect">
            <a:avLst/>
          </a:prstGeom>
          <a:noFill/>
          <a:ln/>
        </p:spPr>
        <p:txBody>
          <a:bodyPr wrap="square" lIns="0" tIns="0" rIns="0" bIns="0" rtlCol="0" anchor="t"/>
          <a:lstStyle/>
          <a:p>
            <a:pPr indent="0" marL="0">
              <a:buNone/>
            </a:pPr>
            <a:r>
              <a:rPr lang="en-US" sz="1700" b="1" dirty="0">
                <a:solidFill>
                  <a:schemeClr val="tx2"/>
                </a:solidFill>
              </a:rPr>
              <a:t>Scale &amp; brand</a:t>
            </a:r>
            <a:endParaRPr lang="en-US" sz="1700" dirty="0"/>
          </a:p>
        </p:txBody>
      </p:sp>
      <p:sp>
        <p:nvSpPr>
          <p:cNvPr id="11" name="Text 6"/>
          <p:cNvSpPr txBox="1"/>
          <p:nvPr/>
        </p:nvSpPr>
        <p:spPr>
          <a:xfrm>
            <a:off x="1371600" y="2990088"/>
            <a:ext cx="4754880" cy="731520"/>
          </a:xfrm>
          <a:prstGeom prst="rect">
            <a:avLst/>
          </a:prstGeom>
          <a:noFill/>
          <a:ln/>
        </p:spPr>
        <p:txBody>
          <a:bodyPr wrap="square" lIns="0" tIns="0" rIns="0" bIns="0" rtlCol="0" anchor="t"/>
          <a:lstStyle/>
          <a:p>
            <a:pPr indent="0" marL="0">
              <a:buNone/>
            </a:pPr>
            <a:r>
              <a:rPr lang="en-US" sz="1400" dirty="0">
                <a:solidFill>
                  <a:schemeClr val="tx1"/>
                </a:solidFill>
              </a:rPr>
              <a:t>Pune launch only and no public app rating. The big players have tens of millions of users.</a:t>
            </a:r>
            <a:endParaRPr lang="en-US" sz="1400" dirty="0"/>
          </a:p>
        </p:txBody>
      </p:sp>
      <p:sp>
        <p:nvSpPr>
          <p:cNvPr id="12" name="Shape 7"/>
          <p:cNvSpPr/>
          <p:nvPr/>
        </p:nvSpPr>
        <p:spPr>
          <a:xfrm>
            <a:off x="548640" y="3886200"/>
            <a:ext cx="640080" cy="640080"/>
          </a:xfrm>
          <a:prstGeom prst="ellipse">
            <a:avLst/>
          </a:prstGeom>
          <a:solidFill>
            <a:schemeClr val="accent5"/>
          </a:solidFill>
          <a:ln/>
        </p:spPr>
      </p:sp>
      <p:pic>
        <p:nvPicPr>
          <p:cNvPr id="13" name="Image 2" descr="preencoded.png">    </p:cNvPr>
          <p:cNvPicPr>
            <a:picLocks noChangeAspect="1"/>
          </p:cNvPicPr>
          <p:nvPr/>
        </p:nvPicPr>
        <p:blipFill>
          <a:blip r:embed="rId3"/>
          <a:stretch>
            <a:fillRect/>
          </a:stretch>
        </p:blipFill>
        <p:spPr>
          <a:xfrm>
            <a:off x="702259" y="4039819"/>
            <a:ext cx="332842" cy="332842"/>
          </a:xfrm>
          <a:prstGeom prst="rect">
            <a:avLst/>
          </a:prstGeom>
        </p:spPr>
      </p:pic>
      <p:sp>
        <p:nvSpPr>
          <p:cNvPr id="14" name="Text 8"/>
          <p:cNvSpPr txBox="1"/>
          <p:nvPr/>
        </p:nvSpPr>
        <p:spPr>
          <a:xfrm>
            <a:off x="1371600" y="3840480"/>
            <a:ext cx="4754880" cy="365760"/>
          </a:xfrm>
          <a:prstGeom prst="rect">
            <a:avLst/>
          </a:prstGeom>
          <a:noFill/>
          <a:ln/>
        </p:spPr>
        <p:txBody>
          <a:bodyPr wrap="square" lIns="0" tIns="0" rIns="0" bIns="0" rtlCol="0" anchor="t"/>
          <a:lstStyle/>
          <a:p>
            <a:pPr indent="0" marL="0">
              <a:buNone/>
            </a:pPr>
            <a:r>
              <a:rPr lang="en-US" sz="1700" b="1" dirty="0">
                <a:solidFill>
                  <a:schemeClr val="tx2"/>
                </a:solidFill>
              </a:rPr>
              <a:t>Assortment</a:t>
            </a:r>
            <a:endParaRPr lang="en-US" sz="1700" dirty="0"/>
          </a:p>
        </p:txBody>
      </p:sp>
      <p:sp>
        <p:nvSpPr>
          <p:cNvPr id="15" name="Text 9"/>
          <p:cNvSpPr txBox="1"/>
          <p:nvPr/>
        </p:nvSpPr>
        <p:spPr>
          <a:xfrm>
            <a:off x="1371600" y="4224528"/>
            <a:ext cx="4754880" cy="731520"/>
          </a:xfrm>
          <a:prstGeom prst="rect">
            <a:avLst/>
          </a:prstGeom>
          <a:noFill/>
          <a:ln/>
        </p:spPr>
        <p:txBody>
          <a:bodyPr wrap="square" lIns="0" tIns="0" rIns="0" bIns="0" rtlCol="0" anchor="t"/>
          <a:lstStyle/>
          <a:p>
            <a:pPr indent="0" marL="0">
              <a:buNone/>
            </a:pPr>
            <a:r>
              <a:rPr lang="en-US" sz="1400" dirty="0">
                <a:solidFill>
                  <a:schemeClr val="tx1"/>
                </a:solidFill>
              </a:rPr>
              <a:t>Range depends on the shops onboarded. Dark stores stock thousands of items.</a:t>
            </a:r>
            <a:endParaRPr lang="en-US" sz="1400" dirty="0"/>
          </a:p>
        </p:txBody>
      </p:sp>
      <p:sp>
        <p:nvSpPr>
          <p:cNvPr id="16" name="Shape 10"/>
          <p:cNvSpPr/>
          <p:nvPr/>
        </p:nvSpPr>
        <p:spPr>
          <a:xfrm>
            <a:off x="548640" y="5120640"/>
            <a:ext cx="640080" cy="640080"/>
          </a:xfrm>
          <a:prstGeom prst="ellipse">
            <a:avLst/>
          </a:prstGeom>
          <a:solidFill>
            <a:schemeClr val="accent5"/>
          </a:solidFill>
          <a:ln/>
        </p:spPr>
      </p:sp>
      <p:pic>
        <p:nvPicPr>
          <p:cNvPr id="17" name="Image 3" descr="preencoded.png">    </p:cNvPr>
          <p:cNvPicPr>
            <a:picLocks noChangeAspect="1"/>
          </p:cNvPicPr>
          <p:nvPr/>
        </p:nvPicPr>
        <p:blipFill>
          <a:blip r:embed="rId4"/>
          <a:stretch>
            <a:fillRect/>
          </a:stretch>
        </p:blipFill>
        <p:spPr>
          <a:xfrm>
            <a:off x="702259" y="5274259"/>
            <a:ext cx="332842" cy="332842"/>
          </a:xfrm>
          <a:prstGeom prst="rect">
            <a:avLst/>
          </a:prstGeom>
        </p:spPr>
      </p:pic>
      <p:sp>
        <p:nvSpPr>
          <p:cNvPr id="18" name="Text 11"/>
          <p:cNvSpPr txBox="1"/>
          <p:nvPr/>
        </p:nvSpPr>
        <p:spPr>
          <a:xfrm>
            <a:off x="1371600" y="5074920"/>
            <a:ext cx="4754880" cy="365760"/>
          </a:xfrm>
          <a:prstGeom prst="rect">
            <a:avLst/>
          </a:prstGeom>
          <a:noFill/>
          <a:ln/>
        </p:spPr>
        <p:txBody>
          <a:bodyPr wrap="square" lIns="0" tIns="0" rIns="0" bIns="0" rtlCol="0" anchor="t"/>
          <a:lstStyle/>
          <a:p>
            <a:pPr indent="0" marL="0">
              <a:buNone/>
            </a:pPr>
            <a:r>
              <a:rPr lang="en-US" sz="1700" b="1" dirty="0">
                <a:solidFill>
                  <a:schemeClr val="tx2"/>
                </a:solidFill>
              </a:rPr>
              <a:t>Loyalty</a:t>
            </a:r>
            <a:endParaRPr lang="en-US" sz="1700" dirty="0"/>
          </a:p>
        </p:txBody>
      </p:sp>
      <p:sp>
        <p:nvSpPr>
          <p:cNvPr id="19" name="Text 12"/>
          <p:cNvSpPr txBox="1"/>
          <p:nvPr/>
        </p:nvSpPr>
        <p:spPr>
          <a:xfrm>
            <a:off x="1371600" y="5458968"/>
            <a:ext cx="4754880" cy="731520"/>
          </a:xfrm>
          <a:prstGeom prst="rect">
            <a:avLst/>
          </a:prstGeom>
          <a:noFill/>
          <a:ln/>
        </p:spPr>
        <p:txBody>
          <a:bodyPr wrap="square" lIns="0" tIns="0" rIns="0" bIns="0" rtlCol="0" anchor="t"/>
          <a:lstStyle/>
          <a:p>
            <a:pPr indent="0" marL="0">
              <a:buNone/>
            </a:pPr>
            <a:r>
              <a:rPr lang="en-US" sz="1400" dirty="0">
                <a:solidFill>
                  <a:schemeClr val="tx1"/>
                </a:solidFill>
              </a:rPr>
              <a:t>Referral credit (₹50 + ₹50) and coupons only. No membership like Prime or Swiggy One.</a:t>
            </a:r>
            <a:endParaRPr lang="en-US" sz="1400" dirty="0"/>
          </a:p>
        </p:txBody>
      </p:sp>
      <p:sp>
        <p:nvSpPr>
          <p:cNvPr id="20" name="Shape 13"/>
          <p:cNvSpPr/>
          <p:nvPr/>
        </p:nvSpPr>
        <p:spPr>
          <a:xfrm>
            <a:off x="6492240" y="1325880"/>
            <a:ext cx="5120640" cy="4846320"/>
          </a:xfrm>
          <a:prstGeom prst="roundRect">
            <a:avLst>
              <a:gd name="adj" fmla="val 1509"/>
            </a:avLst>
          </a:prstGeom>
          <a:solidFill>
            <a:schemeClr val="bg2"/>
          </a:solidFill>
          <a:ln/>
        </p:spPr>
      </p:sp>
      <p:sp>
        <p:nvSpPr>
          <p:cNvPr id="21" name="Text 14"/>
          <p:cNvSpPr txBox="1"/>
          <p:nvPr/>
        </p:nvSpPr>
        <p:spPr>
          <a:xfrm>
            <a:off x="6766560" y="1554480"/>
            <a:ext cx="4572000" cy="45720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Launch-readiness checklist</a:t>
            </a:r>
            <a:endParaRPr lang="en-US" sz="1900" dirty="0"/>
          </a:p>
        </p:txBody>
      </p:sp>
      <p:sp>
        <p:nvSpPr>
          <p:cNvPr id="22" name="Text 15"/>
          <p:cNvSpPr txBox="1"/>
          <p:nvPr/>
        </p:nvSpPr>
        <p:spPr>
          <a:xfrm>
            <a:off x="6812280" y="2194560"/>
            <a:ext cx="4572000" cy="384048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chemeClr val="tx1"/>
                </a:solidFill>
              </a:rPr>
              <a:t>Fill in the legal entity, CIN and GSTIN</a:t>
            </a:r>
            <a:endParaRPr lang="en-US" sz="1700" dirty="0"/>
          </a:p>
          <a:p>
            <a:pPr marL="342900" indent="-342900">
              <a:spcAft>
                <a:spcPts val="1400"/>
              </a:spcAft>
              <a:buSzPct val="100000"/>
              <a:buChar char="•"/>
            </a:pPr>
            <a:r>
              <a:rPr lang="en-US" sz="1700" dirty="0">
                <a:solidFill>
                  <a:schemeClr val="tx1"/>
                </a:solidFill>
              </a:rPr>
              <a:t>Appoint a real grievance officer (IT Rules 2021)</a:t>
            </a:r>
            <a:endParaRPr lang="en-US" sz="1700" dirty="0"/>
          </a:p>
          <a:p>
            <a:pPr marL="342900" indent="-342900">
              <a:spcAft>
                <a:spcPts val="1400"/>
              </a:spcAft>
              <a:buSzPct val="100000"/>
              <a:buChar char="•"/>
            </a:pPr>
            <a:r>
              <a:rPr lang="en-US" sz="1700" dirty="0">
                <a:solidFill>
                  <a:schemeClr val="tx1"/>
                </a:solidFill>
              </a:rPr>
              <a:t>Get GoKesari's own FSSAI e-commerce licence</a:t>
            </a:r>
            <a:endParaRPr lang="en-US" sz="1700" dirty="0"/>
          </a:p>
          <a:p>
            <a:pPr marL="342900" indent="-342900">
              <a:spcAft>
                <a:spcPts val="1400"/>
              </a:spcAft>
              <a:buSzPct val="100000"/>
              <a:buChar char="•"/>
            </a:pPr>
            <a:r>
              <a:rPr lang="en-US" sz="1700" dirty="0">
                <a:solidFill>
                  <a:schemeClr val="tx1"/>
                </a:solidFill>
              </a:rPr>
              <a:t>Set live Cashfree payment keys</a:t>
            </a:r>
            <a:endParaRPr lang="en-US" sz="1700" dirty="0"/>
          </a:p>
          <a:p>
            <a:pPr marL="342900" indent="-342900">
              <a:spcAft>
                <a:spcPts val="1400"/>
              </a:spcAft>
              <a:buSzPct val="100000"/>
              <a:buChar char="•"/>
            </a:pPr>
            <a:r>
              <a:rPr lang="en-US" sz="1700" dirty="0">
                <a:solidFill>
                  <a:schemeClr val="tx1"/>
                </a:solidFill>
              </a:rPr>
              <a:t>Switch on tested features in production: price comparison, coupons, referrals, slots</a:t>
            </a:r>
            <a:endParaRPr lang="en-US" sz="1700" dirty="0"/>
          </a:p>
          <a:p>
            <a:pPr marL="342900" indent="-342900">
              <a:spcAft>
                <a:spcPts val="1400"/>
              </a:spcAft>
              <a:buSzPct val="100000"/>
              <a:buChar char="•"/>
            </a:pPr>
            <a:r>
              <a:rPr lang="en-US" sz="1700" dirty="0">
                <a:solidFill>
                  <a:schemeClr val="tx1"/>
                </a:solidFill>
              </a:rPr>
              <a:t>Lawyer review of policies and terms</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Recommended 90-day plan</a:t>
            </a:r>
            <a:endParaRPr lang="en-US" sz="3200" dirty="0"/>
          </a:p>
        </p:txBody>
      </p:sp>
      <p:sp>
        <p:nvSpPr>
          <p:cNvPr id="4" name="Shape 1"/>
          <p:cNvSpPr/>
          <p:nvPr/>
        </p:nvSpPr>
        <p:spPr>
          <a:xfrm>
            <a:off x="548640" y="1325880"/>
            <a:ext cx="3566160" cy="4023360"/>
          </a:xfrm>
          <a:prstGeom prst="roundRect">
            <a:avLst>
              <a:gd name="adj" fmla="val 2051"/>
            </a:avLst>
          </a:prstGeom>
          <a:solidFill>
            <a:schemeClr val="bg2"/>
          </a:solidFill>
          <a:ln/>
        </p:spPr>
      </p:sp>
      <p:sp>
        <p:nvSpPr>
          <p:cNvPr id="5" name="Text 2"/>
          <p:cNvSpPr txBox="1"/>
          <p:nvPr/>
        </p:nvSpPr>
        <p:spPr>
          <a:xfrm>
            <a:off x="822960" y="1554480"/>
            <a:ext cx="3017520" cy="365760"/>
          </a:xfrm>
          <a:prstGeom prst="rect">
            <a:avLst/>
          </a:prstGeom>
          <a:noFill/>
          <a:ln/>
        </p:spPr>
        <p:txBody>
          <a:bodyPr wrap="square" lIns="0" tIns="0" rIns="0" bIns="0" rtlCol="0" anchor="t"/>
          <a:lstStyle/>
          <a:p>
            <a:pPr indent="0" marL="0">
              <a:buNone/>
            </a:pPr>
            <a:r>
              <a:rPr lang="en-US" sz="1400" b="1" dirty="0">
                <a:solidFill>
                  <a:schemeClr val="accent1"/>
                </a:solidFill>
              </a:rPr>
              <a:t>Days 0–30</a:t>
            </a:r>
            <a:endParaRPr lang="en-US" sz="1400" dirty="0"/>
          </a:p>
        </p:txBody>
      </p:sp>
      <p:sp>
        <p:nvSpPr>
          <p:cNvPr id="6" name="Text 3"/>
          <p:cNvSpPr txBox="1"/>
          <p:nvPr/>
        </p:nvSpPr>
        <p:spPr>
          <a:xfrm>
            <a:off x="822960" y="1920240"/>
            <a:ext cx="3017520" cy="548640"/>
          </a:xfrm>
          <a:prstGeom prst="rect">
            <a:avLst/>
          </a:prstGeom>
          <a:noFill/>
          <a:ln/>
        </p:spPr>
        <p:txBody>
          <a:bodyPr wrap="square" lIns="0" tIns="0" rIns="0" bIns="0" rtlCol="0" anchor="t"/>
          <a:lstStyle/>
          <a:p>
            <a:pPr indent="0" marL="0">
              <a:buNone/>
            </a:pPr>
            <a:r>
              <a:rPr lang="en-US" sz="2100" b="1" dirty="0">
                <a:solidFill>
                  <a:schemeClr val="tx2"/>
                </a:solidFill>
                <a:latin typeface="Cambria" pitchFamily="34" charset="0"/>
                <a:ea typeface="Cambria" pitchFamily="34" charset="-122"/>
                <a:cs typeface="Cambria" pitchFamily="34" charset="-120"/>
              </a:rPr>
              <a:t>Get launch-ready</a:t>
            </a:r>
            <a:endParaRPr lang="en-US" sz="2100" dirty="0"/>
          </a:p>
        </p:txBody>
      </p:sp>
      <p:sp>
        <p:nvSpPr>
          <p:cNvPr id="7" name="Text 4"/>
          <p:cNvSpPr txBox="1"/>
          <p:nvPr/>
        </p:nvSpPr>
        <p:spPr>
          <a:xfrm>
            <a:off x="822960" y="2651760"/>
            <a:ext cx="3017520" cy="25603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Close the compliance placeholders</a:t>
            </a:r>
            <a:endParaRPr lang="en-US" sz="1500" dirty="0"/>
          </a:p>
          <a:p>
            <a:pPr marL="342900" indent="-342900">
              <a:spcAft>
                <a:spcPts val="1000"/>
              </a:spcAft>
              <a:buSzPct val="100000"/>
              <a:buChar char="•"/>
            </a:pPr>
            <a:r>
              <a:rPr lang="en-US" sz="1500" dirty="0">
                <a:solidFill>
                  <a:schemeClr val="tx1"/>
                </a:solidFill>
              </a:rPr>
              <a:t>Switch on the tested features in production</a:t>
            </a:r>
            <a:endParaRPr lang="en-US" sz="1500" dirty="0"/>
          </a:p>
          <a:p>
            <a:pPr marL="342900" indent="-342900">
              <a:spcAft>
                <a:spcPts val="1000"/>
              </a:spcAft>
              <a:buSzPct val="100000"/>
              <a:buChar char="•"/>
            </a:pPr>
            <a:r>
              <a:rPr lang="en-US" sz="1500" dirty="0">
                <a:solidFill>
                  <a:schemeClr val="tx1"/>
                </a:solidFill>
              </a:rPr>
              <a:t>Go live with Cashfree</a:t>
            </a:r>
            <a:endParaRPr lang="en-US" sz="1500" dirty="0"/>
          </a:p>
        </p:txBody>
      </p:sp>
      <p:sp>
        <p:nvSpPr>
          <p:cNvPr id="8" name="Shape 5"/>
          <p:cNvSpPr/>
          <p:nvPr/>
        </p:nvSpPr>
        <p:spPr>
          <a:xfrm>
            <a:off x="4297680" y="1325880"/>
            <a:ext cx="3566160" cy="4023360"/>
          </a:xfrm>
          <a:prstGeom prst="roundRect">
            <a:avLst>
              <a:gd name="adj" fmla="val 2051"/>
            </a:avLst>
          </a:prstGeom>
          <a:solidFill>
            <a:schemeClr val="tx2"/>
          </a:solidFill>
          <a:ln/>
        </p:spPr>
      </p:sp>
      <p:sp>
        <p:nvSpPr>
          <p:cNvPr id="9" name="Text 6"/>
          <p:cNvSpPr txBox="1"/>
          <p:nvPr/>
        </p:nvSpPr>
        <p:spPr>
          <a:xfrm>
            <a:off x="4572000" y="1554480"/>
            <a:ext cx="3017520" cy="365760"/>
          </a:xfrm>
          <a:prstGeom prst="rect">
            <a:avLst/>
          </a:prstGeom>
          <a:noFill/>
          <a:ln/>
        </p:spPr>
        <p:txBody>
          <a:bodyPr wrap="square" lIns="0" tIns="0" rIns="0" bIns="0" rtlCol="0" anchor="t"/>
          <a:lstStyle/>
          <a:p>
            <a:pPr indent="0" marL="0">
              <a:buNone/>
            </a:pPr>
            <a:r>
              <a:rPr lang="en-US" sz="1400" b="1" dirty="0">
                <a:solidFill>
                  <a:schemeClr val="accent3"/>
                </a:solidFill>
              </a:rPr>
              <a:t>Days 31–60</a:t>
            </a:r>
            <a:endParaRPr lang="en-US" sz="1400" dirty="0"/>
          </a:p>
        </p:txBody>
      </p:sp>
      <p:sp>
        <p:nvSpPr>
          <p:cNvPr id="10" name="Text 7"/>
          <p:cNvSpPr txBox="1"/>
          <p:nvPr/>
        </p:nvSpPr>
        <p:spPr>
          <a:xfrm>
            <a:off x="4572000" y="1920240"/>
            <a:ext cx="3017520" cy="548640"/>
          </a:xfrm>
          <a:prstGeom prst="rect">
            <a:avLst/>
          </a:prstGeom>
          <a:noFill/>
          <a:ln/>
        </p:spPr>
        <p:txBody>
          <a:bodyPr wrap="square" lIns="0" tIns="0" rIns="0" bIns="0" rtlCol="0" anchor="t"/>
          <a:lstStyle/>
          <a:p>
            <a:pPr indent="0" marL="0">
              <a:buNone/>
            </a:pPr>
            <a:r>
              <a:rPr lang="en-US" sz="2100" b="1" dirty="0">
                <a:solidFill>
                  <a:schemeClr val="bg1"/>
                </a:solidFill>
                <a:latin typeface="Cambria" pitchFamily="34" charset="0"/>
                <a:ea typeface="Cambria" pitchFamily="34" charset="-122"/>
                <a:cs typeface="Cambria" pitchFamily="34" charset="-120"/>
              </a:rPr>
              <a:t>Win dairy in Pune</a:t>
            </a:r>
            <a:endParaRPr lang="en-US" sz="2100" dirty="0"/>
          </a:p>
        </p:txBody>
      </p:sp>
      <p:sp>
        <p:nvSpPr>
          <p:cNvPr id="11" name="Text 8"/>
          <p:cNvSpPr txBox="1"/>
          <p:nvPr/>
        </p:nvSpPr>
        <p:spPr>
          <a:xfrm>
            <a:off x="4572000" y="2651760"/>
            <a:ext cx="3017520" cy="25603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bg1"/>
                </a:solidFill>
              </a:rPr>
              <a:t>Sign 50+ Kesari-grade dairies and bakeries on the 1% pitch</a:t>
            </a:r>
            <a:endParaRPr lang="en-US" sz="1500" dirty="0"/>
          </a:p>
          <a:p>
            <a:pPr marL="342900" indent="-342900">
              <a:spcAft>
                <a:spcPts val="1000"/>
              </a:spcAft>
              <a:buSzPct val="100000"/>
              <a:buChar char="•"/>
            </a:pPr>
            <a:r>
              <a:rPr lang="en-US" sz="1500" dirty="0">
                <a:solidFill>
                  <a:schemeClr val="bg1"/>
                </a:solidFill>
              </a:rPr>
              <a:t>Onboard 10 housing societies with gate and rider controls</a:t>
            </a:r>
            <a:endParaRPr lang="en-US" sz="1500" dirty="0"/>
          </a:p>
          <a:p>
            <a:pPr marL="342900" indent="-342900">
              <a:spcAft>
                <a:spcPts val="1000"/>
              </a:spcAft>
              <a:buSzPct val="100000"/>
              <a:buChar char="•"/>
            </a:pPr>
            <a:r>
              <a:rPr lang="en-US" sz="1500" dirty="0">
                <a:solidFill>
                  <a:schemeClr val="bg1"/>
                </a:solidFill>
              </a:rPr>
              <a:t>Promise next-morning milk</a:t>
            </a:r>
            <a:endParaRPr lang="en-US" sz="1500" dirty="0"/>
          </a:p>
        </p:txBody>
      </p:sp>
      <p:sp>
        <p:nvSpPr>
          <p:cNvPr id="12" name="Shape 9"/>
          <p:cNvSpPr/>
          <p:nvPr/>
        </p:nvSpPr>
        <p:spPr>
          <a:xfrm>
            <a:off x="8046720" y="1325880"/>
            <a:ext cx="3566160" cy="4023360"/>
          </a:xfrm>
          <a:prstGeom prst="roundRect">
            <a:avLst>
              <a:gd name="adj" fmla="val 2051"/>
            </a:avLst>
          </a:prstGeom>
          <a:solidFill>
            <a:schemeClr val="bg2"/>
          </a:solidFill>
          <a:ln/>
        </p:spPr>
      </p:sp>
      <p:sp>
        <p:nvSpPr>
          <p:cNvPr id="13" name="Text 10"/>
          <p:cNvSpPr txBox="1"/>
          <p:nvPr/>
        </p:nvSpPr>
        <p:spPr>
          <a:xfrm>
            <a:off x="8321040" y="1554480"/>
            <a:ext cx="3017520" cy="365760"/>
          </a:xfrm>
          <a:prstGeom prst="rect">
            <a:avLst/>
          </a:prstGeom>
          <a:noFill/>
          <a:ln/>
        </p:spPr>
        <p:txBody>
          <a:bodyPr wrap="square" lIns="0" tIns="0" rIns="0" bIns="0" rtlCol="0" anchor="t"/>
          <a:lstStyle/>
          <a:p>
            <a:pPr indent="0" marL="0">
              <a:buNone/>
            </a:pPr>
            <a:r>
              <a:rPr lang="en-US" sz="1400" b="1" dirty="0">
                <a:solidFill>
                  <a:schemeClr val="accent1"/>
                </a:solidFill>
              </a:rPr>
              <a:t>Days 61–90</a:t>
            </a:r>
            <a:endParaRPr lang="en-US" sz="1400" dirty="0"/>
          </a:p>
        </p:txBody>
      </p:sp>
      <p:sp>
        <p:nvSpPr>
          <p:cNvPr id="14" name="Text 11"/>
          <p:cNvSpPr txBox="1"/>
          <p:nvPr/>
        </p:nvSpPr>
        <p:spPr>
          <a:xfrm>
            <a:off x="8321040" y="1920240"/>
            <a:ext cx="3017520" cy="548640"/>
          </a:xfrm>
          <a:prstGeom prst="rect">
            <a:avLst/>
          </a:prstGeom>
          <a:noFill/>
          <a:ln/>
        </p:spPr>
        <p:txBody>
          <a:bodyPr wrap="square" lIns="0" tIns="0" rIns="0" bIns="0" rtlCol="0" anchor="t"/>
          <a:lstStyle/>
          <a:p>
            <a:pPr indent="0" marL="0">
              <a:buNone/>
            </a:pPr>
            <a:r>
              <a:rPr lang="en-US" sz="2100" b="1" dirty="0">
                <a:solidFill>
                  <a:schemeClr val="tx2"/>
                </a:solidFill>
                <a:latin typeface="Cambria" pitchFamily="34" charset="0"/>
                <a:ea typeface="Cambria" pitchFamily="34" charset="-122"/>
                <a:cs typeface="Cambria" pitchFamily="34" charset="-120"/>
              </a:rPr>
              <a:t>Grow by trust &amp; referral</a:t>
            </a:r>
            <a:endParaRPr lang="en-US" sz="2100" dirty="0"/>
          </a:p>
        </p:txBody>
      </p:sp>
      <p:sp>
        <p:nvSpPr>
          <p:cNvPr id="15" name="Text 12"/>
          <p:cNvSpPr txBox="1"/>
          <p:nvPr/>
        </p:nvSpPr>
        <p:spPr>
          <a:xfrm>
            <a:off x="8321040" y="2651760"/>
            <a:ext cx="3017520" cy="25603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Market the 'Kesari Verified' badge and 'no hidden fees'</a:t>
            </a:r>
            <a:endParaRPr lang="en-US" sz="1500" dirty="0"/>
          </a:p>
          <a:p>
            <a:pPr marL="342900" indent="-342900">
              <a:spcAft>
                <a:spcPts val="1000"/>
              </a:spcAft>
              <a:buSzPct val="100000"/>
              <a:buChar char="•"/>
            </a:pPr>
            <a:r>
              <a:rPr lang="en-US" sz="1500" dirty="0">
                <a:solidFill>
                  <a:schemeClr val="tx1"/>
                </a:solidFill>
              </a:rPr>
              <a:t>Push ₹50 + ₹50 referrals inside societies</a:t>
            </a:r>
            <a:endParaRPr lang="en-US" sz="1500" dirty="0"/>
          </a:p>
          <a:p>
            <a:pPr marL="342900" indent="-342900">
              <a:spcAft>
                <a:spcPts val="1000"/>
              </a:spcAft>
              <a:buSzPct val="100000"/>
              <a:buChar char="•"/>
            </a:pPr>
            <a:r>
              <a:rPr lang="en-US" sz="1500" dirty="0">
                <a:solidFill>
                  <a:schemeClr val="tx1"/>
                </a:solidFill>
              </a:rPr>
              <a:t>Track app rating, retention and subscription days</a:t>
            </a:r>
            <a:endParaRPr lang="en-US" sz="1500" dirty="0"/>
          </a:p>
        </p:txBody>
      </p:sp>
      <p:sp>
        <p:nvSpPr>
          <p:cNvPr id="16" name="Shape 13"/>
          <p:cNvSpPr/>
          <p:nvPr/>
        </p:nvSpPr>
        <p:spPr>
          <a:xfrm>
            <a:off x="548640" y="5532120"/>
            <a:ext cx="11064240" cy="685800"/>
          </a:xfrm>
          <a:prstGeom prst="roundRect">
            <a:avLst>
              <a:gd name="adj" fmla="val 10667"/>
            </a:avLst>
          </a:prstGeom>
          <a:solidFill>
            <a:srgbClr val="FDE3C8"/>
          </a:solidFill>
          <a:ln/>
        </p:spPr>
      </p:sp>
      <p:sp>
        <p:nvSpPr>
          <p:cNvPr id="17" name="Text 14"/>
          <p:cNvSpPr txBox="1"/>
          <p:nvPr/>
        </p:nvSpPr>
        <p:spPr>
          <a:xfrm>
            <a:off x="777240" y="5577840"/>
            <a:ext cx="10607040" cy="594360"/>
          </a:xfrm>
          <a:prstGeom prst="rect">
            <a:avLst/>
          </a:prstGeom>
          <a:noFill/>
          <a:ln/>
        </p:spPr>
        <p:txBody>
          <a:bodyPr wrap="square" lIns="0" tIns="0" rIns="0" bIns="0" rtlCol="0" anchor="ctr"/>
          <a:lstStyle/>
          <a:p>
            <a:pPr indent="0" marL="0">
              <a:buNone/>
            </a:pPr>
            <a:r>
              <a:rPr lang="en-US" sz="1500" b="1" dirty="0">
                <a:solidFill>
                  <a:schemeClr val="accent1"/>
                </a:solidFill>
              </a:rPr>
              <a:t>Positioning: </a:t>
            </a:r>
            <a:pPr indent="0" marL="0">
              <a:buNone/>
            </a:pPr>
            <a:r>
              <a:rPr lang="en-US" sz="1500" dirty="0">
                <a:solidFill>
                  <a:schemeClr val="tx1"/>
                </a:solidFill>
              </a:rPr>
              <a:t>“Your neighbourhood's trusted shops, delivered. No hidden fees.” Compete on choice, trust and subscriptions, not on 10-minute speed.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200" b="1" dirty="0">
                <a:solidFill>
                  <a:schemeClr val="tx2"/>
                </a:solidFill>
                <a:latin typeface="Cambria" pitchFamily="34" charset="0"/>
                <a:ea typeface="Cambria" pitchFamily="34" charset="-122"/>
                <a:cs typeface="Cambria" pitchFamily="34" charset="-120"/>
              </a:rPr>
              <a:t>Method and sources</a:t>
            </a:r>
            <a:endParaRPr lang="en-US" sz="3200" dirty="0"/>
          </a:p>
        </p:txBody>
      </p:sp>
      <p:sp>
        <p:nvSpPr>
          <p:cNvPr id="4" name="Text 1"/>
          <p:cNvSpPr txBox="1"/>
          <p:nvPr/>
        </p:nvSpPr>
        <p:spPr>
          <a:xfrm>
            <a:off x="548640" y="1325880"/>
            <a:ext cx="5760720" cy="48463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tx1"/>
                </a:solidFill>
              </a:rPr>
              <a:t>GoKesari features: read from the GoKesari codebase and its docs (Oct 2026). Some features are on in test and off in production.</a:t>
            </a:r>
            <a:endParaRPr lang="en-US" sz="1600" dirty="0"/>
          </a:p>
          <a:p>
            <a:pPr marL="342900" indent="-342900">
              <a:spcAft>
                <a:spcPts val="1200"/>
              </a:spcAft>
              <a:buSzPct val="100000"/>
              <a:buChar char="•"/>
            </a:pPr>
            <a:r>
              <a:rPr lang="en-US" sz="1600" dirty="0">
                <a:solidFill>
                  <a:schemeClr val="tx1"/>
                </a:solidFill>
              </a:rPr>
              <a:t>Competitor features and scale: company filings and results (Q1 FY27, FY26), DRHPs, press releases and trade press. Periods differ by company.</a:t>
            </a:r>
            <a:endParaRPr lang="en-US" sz="1600" dirty="0"/>
          </a:p>
          <a:p>
            <a:pPr marL="342900" indent="-342900">
              <a:spcAft>
                <a:spcPts val="1200"/>
              </a:spcAft>
              <a:buSzPct val="100000"/>
              <a:buChar char="•"/>
            </a:pPr>
            <a:r>
              <a:rPr lang="en-US" sz="1600" dirty="0">
                <a:solidFill>
                  <a:schemeClr val="tx1"/>
                </a:solidFill>
              </a:rPr>
              <a:t>App ratings: third-party aggregators (91mobiles, unstar.app), approximate and undated. Live store pages were not checked.</a:t>
            </a:r>
            <a:endParaRPr lang="en-US" sz="1600" dirty="0"/>
          </a:p>
          <a:p>
            <a:pPr marL="342900" indent="-342900">
              <a:spcAft>
                <a:spcPts val="1200"/>
              </a:spcAft>
              <a:buSzPct val="100000"/>
              <a:buChar char="•"/>
            </a:pPr>
            <a:r>
              <a:rPr lang="en-US" sz="1600" dirty="0">
                <a:solidFill>
                  <a:schemeClr val="tx1"/>
                </a:solidFill>
              </a:rPr>
              <a:t>Scores: analyst judgement, 1–5 per criterion. Weights are in the Excel workbook so you can test them.</a:t>
            </a:r>
            <a:endParaRPr lang="en-US" sz="1600" dirty="0"/>
          </a:p>
          <a:p>
            <a:pPr marL="342900" indent="-342900">
              <a:spcAft>
                <a:spcPts val="1200"/>
              </a:spcAft>
              <a:buSzPct val="100000"/>
              <a:buChar char="•"/>
            </a:pPr>
            <a:r>
              <a:rPr lang="en-US" sz="1600" dirty="0">
                <a:solidFill>
                  <a:schemeClr val="tx1"/>
                </a:solidFill>
              </a:rPr>
              <a:t>n/v means not verified from public sources. It does not mean the feature is missing.</a:t>
            </a:r>
            <a:endParaRPr lang="en-US" sz="1600" dirty="0"/>
          </a:p>
        </p:txBody>
      </p:sp>
      <p:sp>
        <p:nvSpPr>
          <p:cNvPr id="5" name="Shape 2"/>
          <p:cNvSpPr/>
          <p:nvPr/>
        </p:nvSpPr>
        <p:spPr>
          <a:xfrm>
            <a:off x="6583680" y="1325880"/>
            <a:ext cx="5029200" cy="4846320"/>
          </a:xfrm>
          <a:prstGeom prst="roundRect">
            <a:avLst>
              <a:gd name="adj" fmla="val 1509"/>
            </a:avLst>
          </a:prstGeom>
          <a:solidFill>
            <a:schemeClr val="bg2"/>
          </a:solidFill>
          <a:ln/>
        </p:spPr>
      </p:sp>
      <p:sp>
        <p:nvSpPr>
          <p:cNvPr id="6" name="Text 3"/>
          <p:cNvSpPr txBox="1"/>
          <p:nvPr/>
        </p:nvSpPr>
        <p:spPr>
          <a:xfrm>
            <a:off x="6858000" y="1508760"/>
            <a:ext cx="4480560" cy="411480"/>
          </a:xfrm>
          <a:prstGeom prst="rect">
            <a:avLst/>
          </a:prstGeom>
          <a:noFill/>
          <a:ln/>
        </p:spPr>
        <p:txBody>
          <a:bodyPr wrap="square" lIns="0" tIns="0" rIns="0" bIns="0" rtlCol="0" anchor="t"/>
          <a:lstStyle/>
          <a:p>
            <a:pPr indent="0" marL="0">
              <a:buNone/>
            </a:pPr>
            <a:r>
              <a:rPr lang="en-US" sz="1700" b="1" dirty="0">
                <a:solidFill>
                  <a:schemeClr val="tx2"/>
                </a:solidFill>
              </a:rPr>
              <a:t>Key sources</a:t>
            </a:r>
            <a:endParaRPr lang="en-US" sz="1700" dirty="0"/>
          </a:p>
        </p:txBody>
      </p:sp>
      <p:sp>
        <p:nvSpPr>
          <p:cNvPr id="7" name="Text 4"/>
          <p:cNvSpPr txBox="1"/>
          <p:nvPr/>
        </p:nvSpPr>
        <p:spPr>
          <a:xfrm>
            <a:off x="6858000" y="2011680"/>
            <a:ext cx="4526280" cy="40233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Bain, How India Shops Online 2026</a:t>
            </a:r>
            <a:endParaRPr lang="en-US" sz="1400" dirty="0"/>
          </a:p>
          <a:p>
            <a:pPr marL="342900" indent="-342900">
              <a:spcAft>
                <a:spcPts val="800"/>
              </a:spcAft>
              <a:buSzPct val="100000"/>
              <a:buChar char="•"/>
            </a:pPr>
            <a:r>
              <a:rPr lang="en-US" sz="1400" dirty="0">
                <a:solidFill>
                  <a:schemeClr val="tx1"/>
                </a:solidFill>
              </a:rPr>
              <a:t>Google–Redseer quick-commerce report 2026</a:t>
            </a:r>
            <a:endParaRPr lang="en-US" sz="1400" dirty="0"/>
          </a:p>
          <a:p>
            <a:pPr marL="342900" indent="-342900">
              <a:spcAft>
                <a:spcPts val="800"/>
              </a:spcAft>
              <a:buSzPct val="100000"/>
              <a:buChar char="•"/>
            </a:pPr>
            <a:r>
              <a:rPr lang="en-US" sz="1400" dirty="0">
                <a:solidFill>
                  <a:schemeClr val="tx1"/>
                </a:solidFill>
              </a:rPr>
              <a:t>IMARC Indian dairy market 2026</a:t>
            </a:r>
            <a:endParaRPr lang="en-US" sz="1400" dirty="0"/>
          </a:p>
          <a:p>
            <a:pPr marL="342900" indent="-342900">
              <a:spcAft>
                <a:spcPts val="800"/>
              </a:spcAft>
              <a:buSzPct val="100000"/>
              <a:buChar char="•"/>
            </a:pPr>
            <a:r>
              <a:rPr lang="en-US" sz="1400" dirty="0">
                <a:solidFill>
                  <a:schemeClr val="tx1"/>
                </a:solidFill>
              </a:rPr>
              <a:t>Eternal, Swiggy, Meesho Q1 FY27 results (via Inc42, YourStory)</a:t>
            </a:r>
            <a:endParaRPr lang="en-US" sz="1400" dirty="0"/>
          </a:p>
          <a:p>
            <a:pPr marL="342900" indent="-342900">
              <a:spcAft>
                <a:spcPts val="800"/>
              </a:spcAft>
              <a:buSzPct val="100000"/>
              <a:buChar char="•"/>
            </a:pPr>
            <a:r>
              <a:rPr lang="en-US" sz="1400" dirty="0">
                <a:solidFill>
                  <a:schemeClr val="tx1"/>
                </a:solidFill>
              </a:rPr>
              <a:t>Zepto updated DRHP; Tata Sons annual report FY26</a:t>
            </a:r>
            <a:endParaRPr lang="en-US" sz="1400" dirty="0"/>
          </a:p>
          <a:p>
            <a:pPr marL="342900" indent="-342900">
              <a:spcAft>
                <a:spcPts val="800"/>
              </a:spcAft>
              <a:buSzPct val="100000"/>
              <a:buChar char="•"/>
            </a:pPr>
            <a:r>
              <a:rPr lang="en-US" sz="1400" dirty="0">
                <a:solidFill>
                  <a:schemeClr val="tx1"/>
                </a:solidFill>
              </a:rPr>
              <a:t>Business Standard, Medianama: CCPA penalties 2025–26</a:t>
            </a:r>
            <a:endParaRPr lang="en-US" sz="1400" dirty="0"/>
          </a:p>
          <a:p>
            <a:pPr marL="342900" indent="-342900">
              <a:spcAft>
                <a:spcPts val="800"/>
              </a:spcAft>
              <a:buSzPct val="100000"/>
              <a:buChar char="•"/>
            </a:pPr>
            <a:r>
              <a:rPr lang="en-US" sz="1400" dirty="0">
                <a:solidFill>
                  <a:schemeClr val="tx1"/>
                </a:solidFill>
              </a:rPr>
              <a:t>TechCrunch, CLSA, Bernstein: Flipkart Minutes, in-stock rates</a:t>
            </a:r>
            <a:endParaRPr lang="en-US" sz="1400" dirty="0"/>
          </a:p>
          <a:p>
            <a:pPr marL="342900" indent="-342900">
              <a:spcAft>
                <a:spcPts val="800"/>
              </a:spcAft>
              <a:buSzPct val="100000"/>
              <a:buChar char="•"/>
            </a:pPr>
            <a:r>
              <a:rPr lang="en-US" sz="1400" dirty="0">
                <a:solidFill>
                  <a:schemeClr val="tx1"/>
                </a:solidFill>
              </a:rPr>
              <a:t>Mint: Country Delight IPO plans (Sep 2026)</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GoKesari Saffron">
  <a:themeElements>
    <a:clrScheme name="GoKesari Saffron">
      <a:dk1>
        <a:srgbClr val="1E1A17"/>
      </a:dk1>
      <a:lt1>
        <a:srgbClr val="FFFFFF"/>
      </a:lt1>
      <a:dk2>
        <a:srgbClr val="3A2314"/>
      </a:dk2>
      <a:lt2>
        <a:srgbClr val="FBF1E6"/>
      </a:lt2>
      <a:accent1>
        <a:srgbClr val="D9640F"/>
      </a:accent1>
      <a:accent2>
        <a:srgbClr val="2F7D3A"/>
      </a:accent2>
      <a:accent3>
        <a:srgbClr val="F2B35E"/>
      </a:accent3>
      <a:accent4>
        <a:srgbClr val="6B7280"/>
      </a:accent4>
      <a:accent5>
        <a:srgbClr val="B4462E"/>
      </a:accent5>
      <a:accent6>
        <a:srgbClr val="1F6F8B"/>
      </a:accent6>
      <a:hlink>
        <a:srgbClr val="1F6F8B"/>
      </a:hlink>
      <a:folHlink>
        <a:srgbClr val="6B4E9B"/>
      </a:folHlink>
    </a:clrScheme>
    <a:fontScheme name="GoKesari Saffr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GoKesari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GoKesari vs India's top e-commerce and quick-commerce players</dc:title>
  <dc:subject>PptxGenJS Presentation</dc:subject>
  <dc:creator>Business analysis</dc:creator>
  <cp:lastModifiedBy>Business analysis</cp:lastModifiedBy>
  <cp:revision>1</cp:revision>
  <dcterms:created xsi:type="dcterms:W3CDTF">2026-10-16T12:23:35Z</dcterms:created>
  <dcterms:modified xsi:type="dcterms:W3CDTF">2026-10-16T12:23:35Z</dcterms:modified>
</cp:coreProperties>
</file>